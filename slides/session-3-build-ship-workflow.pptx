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final session. Energy up — this is the payoff. Frame: 'Sessions 1 and 2 were skills. Today we assemble them into a workflow you own — and you start your capstone.' Ask who brought their own data sample (item 2 from last time). Those people are ready to build something real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30–45 sec. The centerpiece is the live build. Tell them: 'By the end you'll watch a report update with one click — and that one click is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their definition of 'done.' A great analysis you can't repeat is a chore in disguise. A workflow that refreshes is an asset. This reframing is the heart of the capstone —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four-part pattern IS the capstone template. Every learner's project will map to these four boxes. Tell them to screenshot it and use it as their project checklist. We'll now build one live so the pattern is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marquee demo. Open the session-3 folder so they see three monthly CSVs sitting there. Set the goal: 'When April's file lands, the report updates with one Refresh — no re-import, no new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min — the most important demo of the course. The keystone is step 1: 'From Folder' loops over whatever files are present, so next month is free. At step 3, intentionally note any unmatched vendor and explain the blank-category check — data quality you get for free. Climax at step 5: change nothing, add a file, Refresh, and the totals + pivot move. Let it land. Full steps in solutions/session-3-workflow-solution.md.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beat to bank the value. Connect to their own jobs: 'How many hours a month would one-click do this save YOU?' Drop answers in chat — motivation for the capstone they're about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let them skip documentation — it's the difference between a clever trick and a real asset, and it's part of the capstone rubric. Generate a run-book live with AI, then edit one line to show 'making it true.' Tie to the recurring theme: AI drafts, you verify and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 naming the failure modes builds trust and prepares them for their own data. Schema drift and locale dates are the two they'll actually hit. Stress: AI reads the error well, but it can't see their folder or their business rules. End on the division of labor: pipeline = Power Query, snippets + docs =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them the assignment with confidence. The four-box pattern from earlier is their blueprint. Reassure: it doesn't have to be big — a single recurring report done well beats an ambitious half-built pipeline. Point to capstone/capstone-brief for the full brief and rubric. Those who brought data can start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bar concrete and achievable. Four simple criteria — repeatable, good AI use, documented, understood. Note that 'showing where you corrected the AI' is a feature, not a confession; it's exactly the judgment we're teaching. Tell them how to submit: post in the capstone Slack channel by the deadline; peer feedback encouraged.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to the whole course, not just today. These four lines are what you want them repeating to a colleague next week. Pause on each. Then celebrate: 'You came in doing this by hand. You're leaving with a workflow you built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hand-off. Restate the deadline and the Slack channel. Encourage peer review — reading someone else's workflow is half the learning. Offer async office hours. Remind them the solution files and datasets stay in the repo for reference long after the cohort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close to the whole course. Thank them for their time and their messy data. Final nudge: 'Pick one real, recurring task this week and turn it into a workflow — that's how this sticks.' Take final Q&amp;A. Point to the repo (datasets, solutions, prompt cheat sheet, capstone brief) and the support email for anything after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7818120" y="1051560"/>
            <a:ext cx="3749040" cy="4754880"/>
          </a:xfrm>
          <a:prstGeom prst="roundRect">
            <a:avLst>
              <a:gd name="adj" fmla="val 6829"/>
            </a:avLst>
          </a:prstGeom>
          <a:solidFill>
            <a:srgbClr val="101110"/>
          </a:solidFill>
          <a:ln/>
          <a:effectLst>
            <a:outerShdw sx="100000" sy="100000" kx="0" ky="0" algn="bl" rotWithShape="0" blurRad="114300" dist="38100" dir="5400000">
              <a:srgbClr val="000000">
                <a:alpha val="10000"/>
              </a:srgbClr>
            </a:outerShdw>
          </a:effectLst>
        </p:spPr>
      </p:sp>
      <p:sp>
        <p:nvSpPr>
          <p:cNvPr id="5" name="Shape 3"/>
          <p:cNvSpPr/>
          <p:nvPr/>
        </p:nvSpPr>
        <p:spPr>
          <a:xfrm>
            <a:off x="8229600" y="1554480"/>
            <a:ext cx="2926080" cy="1371600"/>
          </a:xfrm>
          <a:prstGeom prst="roundRect">
            <a:avLst>
              <a:gd name="adj" fmla="val 13333"/>
            </a:avLst>
          </a:prstGeom>
          <a:solidFill>
            <a:srgbClr val="B1E882"/>
          </a:solidFill>
          <a:ln/>
        </p:spPr>
      </p:sp>
      <p:sp>
        <p:nvSpPr>
          <p:cNvPr id="6" name="Text 4"/>
          <p:cNvSpPr/>
          <p:nvPr/>
        </p:nvSpPr>
        <p:spPr>
          <a:xfrm>
            <a:off x="8229600" y="1554480"/>
            <a:ext cx="2926080" cy="1371600"/>
          </a:xfrm>
          <a:prstGeom prst="rect">
            <a:avLst/>
          </a:prstGeom>
          <a:noFill/>
          <a:ln/>
        </p:spPr>
        <p:txBody>
          <a:bodyPr wrap="square" lIns="0" tIns="0" rIns="0" bIns="0" rtlCol="0" anchor="ctr"/>
          <a:lstStyle/>
          <a:p>
            <a:pPr algn="ctr" indent="0" marL="0">
              <a:buNone/>
            </a:pPr>
            <a:r>
              <a:rPr lang="en-US" sz="3000" b="1" dirty="0">
                <a:solidFill>
                  <a:srgbClr val="101110"/>
                </a:solidFill>
                <a:latin typeface="Inter" pitchFamily="34" charset="0"/>
                <a:ea typeface="Inter" pitchFamily="34" charset="-122"/>
                <a:cs typeface="Inter" pitchFamily="34" charset="-120"/>
              </a:rPr>
              <a:t>=PY( )</a:t>
            </a:r>
            <a:endParaRPr lang="en-US" sz="3000" dirty="0"/>
          </a:p>
        </p:txBody>
      </p:sp>
      <p:sp>
        <p:nvSpPr>
          <p:cNvPr id="7" name="Text 5"/>
          <p:cNvSpPr/>
          <p:nvPr/>
        </p:nvSpPr>
        <p:spPr>
          <a:xfrm>
            <a:off x="8229600" y="3200400"/>
            <a:ext cx="2926080" cy="2286000"/>
          </a:xfrm>
          <a:prstGeom prst="rect">
            <a:avLst/>
          </a:prstGeom>
          <a:noFill/>
          <a:ln/>
        </p:spPr>
        <p:txBody>
          <a:bodyPr wrap="square" lIns="0" tIns="0" rIns="0" bIns="0" rtlCol="0" anchor="ctr"/>
          <a:lstStyle/>
          <a:p>
            <a:pPr indent="0" marL="0">
              <a:lnSpc>
                <a:spcPct val="150000"/>
              </a:lnSpc>
              <a:buNone/>
            </a:pPr>
            <a:r>
              <a:rPr lang="en-US" sz="1400" b="1" dirty="0">
                <a:solidFill>
                  <a:srgbClr val="FFFFFF"/>
                </a:solidFill>
                <a:latin typeface="Inter" pitchFamily="34" charset="0"/>
                <a:ea typeface="Inter" pitchFamily="34" charset="-122"/>
                <a:cs typeface="Inter" pitchFamily="34" charset="-120"/>
              </a:rPr>
              <a:t>Power Query</a:t>
            </a:r>
            <a:endParaRPr lang="en-US" sz="1400" dirty="0"/>
          </a:p>
          <a:p>
            <a:pPr indent="0" marL="0">
              <a:lnSpc>
                <a:spcPct val="150000"/>
              </a:lnSpc>
              <a:buNone/>
            </a:pPr>
            <a:r>
              <a:rPr lang="en-US" sz="1400" b="1" dirty="0">
                <a:solidFill>
                  <a:srgbClr val="FFFFFF"/>
                </a:solidFill>
                <a:latin typeface="Inter" pitchFamily="34" charset="0"/>
                <a:ea typeface="Inter" pitchFamily="34" charset="-122"/>
                <a:cs typeface="Inter" pitchFamily="34" charset="-120"/>
              </a:rPr>
              <a:t>Copilot in Excel</a:t>
            </a:r>
            <a:endParaRPr lang="en-US" sz="1400" dirty="0"/>
          </a:p>
          <a:p>
            <a:pPr indent="0" marL="0">
              <a:lnSpc>
                <a:spcPct val="150000"/>
              </a:lnSpc>
              <a:buNone/>
            </a:pPr>
            <a:r>
              <a:rPr lang="en-US" sz="1400" b="1" dirty="0">
                <a:solidFill>
                  <a:srgbClr val="FFFFFF"/>
                </a:solidFill>
                <a:latin typeface="Inter" pitchFamily="34" charset="0"/>
                <a:ea typeface="Inter" pitchFamily="34" charset="-122"/>
                <a:cs typeface="Inter" pitchFamily="34" charset="-120"/>
              </a:rPr>
              <a:t>Python in Excel</a:t>
            </a:r>
            <a:endParaRPr lang="en-US" sz="1400" dirty="0"/>
          </a:p>
          <a:p>
            <a:pPr indent="0" marL="0">
              <a:lnSpc>
                <a:spcPct val="150000"/>
              </a:lnSpc>
              <a:buNone/>
            </a:pPr>
            <a:r>
              <a:rPr lang="en-US" sz="1400" b="1" dirty="0">
                <a:solidFill>
                  <a:srgbClr val="B1E882"/>
                </a:solidFill>
                <a:latin typeface="Inter" pitchFamily="34" charset="0"/>
                <a:ea typeface="Inter" pitchFamily="34" charset="-122"/>
                <a:cs typeface="Inter" pitchFamily="34" charset="-120"/>
              </a:rPr>
              <a:t>Your AI assistant</a:t>
            </a:r>
            <a:endParaRPr lang="en-US" sz="1400" dirty="0"/>
          </a:p>
        </p:txBody>
      </p:sp>
      <p:sp>
        <p:nvSpPr>
          <p:cNvPr id="8" name="Shape 6"/>
          <p:cNvSpPr/>
          <p:nvPr/>
        </p:nvSpPr>
        <p:spPr>
          <a:xfrm>
            <a:off x="640080" y="1412748"/>
            <a:ext cx="146304" cy="146304"/>
          </a:xfrm>
          <a:prstGeom prst="roundRect">
            <a:avLst>
              <a:gd name="adj" fmla="val 25000"/>
            </a:avLst>
          </a:prstGeom>
          <a:solidFill>
            <a:srgbClr val="B1E882"/>
          </a:solidFill>
          <a:ln/>
        </p:spPr>
      </p:sp>
      <p:sp>
        <p:nvSpPr>
          <p:cNvPr id="9" name="Text 7"/>
          <p:cNvSpPr/>
          <p:nvPr/>
        </p:nvSpPr>
        <p:spPr>
          <a:xfrm>
            <a:off x="877824" y="13716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AI FOR EXCEL</a:t>
            </a:r>
            <a:endParaRPr lang="en-US" sz="1200" dirty="0"/>
          </a:p>
        </p:txBody>
      </p:sp>
      <p:sp>
        <p:nvSpPr>
          <p:cNvPr id="10" name="Text 8"/>
          <p:cNvSpPr/>
          <p:nvPr/>
        </p:nvSpPr>
        <p:spPr>
          <a:xfrm>
            <a:off x="621792" y="1828800"/>
            <a:ext cx="6766560" cy="2377440"/>
          </a:xfrm>
          <a:prstGeom prst="rect">
            <a:avLst/>
          </a:prstGeom>
          <a:noFill/>
          <a:ln/>
        </p:spPr>
        <p:txBody>
          <a:bodyPr wrap="square" lIns="0" tIns="0" rIns="0" bIns="0" rtlCol="0" anchor="ctr"/>
          <a:lstStyle/>
          <a:p>
            <a:pPr indent="0" marL="0">
              <a:lnSpc>
                <a:spcPct val="102000"/>
              </a:lnSpc>
              <a:buNone/>
            </a:pPr>
            <a:r>
              <a:rPr lang="en-US" sz="4200" b="1" dirty="0">
                <a:solidFill>
                  <a:srgbClr val="101110"/>
                </a:solidFill>
                <a:latin typeface="Inter" pitchFamily="34" charset="0"/>
                <a:ea typeface="Inter" pitchFamily="34" charset="-122"/>
                <a:cs typeface="Inter" pitchFamily="34" charset="-120"/>
              </a:rPr>
              <a:t>Build &amp; Ship a Reusable Workflow</a:t>
            </a:r>
            <a:endParaRPr lang="en-US" sz="4200" dirty="0"/>
          </a:p>
        </p:txBody>
      </p:sp>
      <p:sp>
        <p:nvSpPr>
          <p:cNvPr id="11" name="Text 9"/>
          <p:cNvSpPr/>
          <p:nvPr/>
        </p:nvSpPr>
        <p:spPr>
          <a:xfrm>
            <a:off x="640080" y="4160520"/>
            <a:ext cx="6583680" cy="822960"/>
          </a:xfrm>
          <a:prstGeom prst="rect">
            <a:avLst/>
          </a:prstGeom>
          <a:noFill/>
          <a:ln/>
        </p:spPr>
        <p:txBody>
          <a:bodyPr wrap="square" lIns="0" tIns="0" rIns="0" bIns="0" rtlCol="0" anchor="ctr"/>
          <a:lstStyle/>
          <a:p>
            <a:pPr indent="0" marL="0">
              <a:lnSpc>
                <a:spcPct val="115000"/>
              </a:lnSpc>
              <a:buNone/>
            </a:pPr>
            <a:r>
              <a:rPr lang="en-US" sz="1600" dirty="0">
                <a:solidFill>
                  <a:srgbClr val="6B6F6B"/>
                </a:solidFill>
                <a:latin typeface="Inter" pitchFamily="34" charset="0"/>
                <a:ea typeface="Inter" pitchFamily="34" charset="-122"/>
                <a:cs typeface="Inter" pitchFamily="34" charset="-120"/>
              </a:rPr>
              <a:t>Turn a one-off task into something that refreshes itself.</a:t>
            </a:r>
            <a:endParaRPr lang="en-US" sz="1600" dirty="0"/>
          </a:p>
        </p:txBody>
      </p:sp>
      <p:sp>
        <p:nvSpPr>
          <p:cNvPr id="12" name="Shape 10"/>
          <p:cNvSpPr/>
          <p:nvPr/>
        </p:nvSpPr>
        <p:spPr>
          <a:xfrm>
            <a:off x="640080" y="5257800"/>
            <a:ext cx="3383280" cy="868680"/>
          </a:xfrm>
          <a:prstGeom prst="roundRect">
            <a:avLst>
              <a:gd name="adj" fmla="val 12632"/>
            </a:avLst>
          </a:prstGeom>
          <a:solidFill>
            <a:srgbClr val="101110"/>
          </a:solidFill>
          <a:ln/>
        </p:spPr>
      </p:sp>
      <p:sp>
        <p:nvSpPr>
          <p:cNvPr id="13" name="Text 11"/>
          <p:cNvSpPr/>
          <p:nvPr/>
        </p:nvSpPr>
        <p:spPr>
          <a:xfrm>
            <a:off x="868680" y="5413248"/>
            <a:ext cx="3017520" cy="292608"/>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Instructor Name</a:t>
            </a:r>
            <a:endParaRPr lang="en-US" sz="1500" dirty="0"/>
          </a:p>
        </p:txBody>
      </p:sp>
      <p:sp>
        <p:nvSpPr>
          <p:cNvPr id="14" name="Text 12"/>
          <p:cNvSpPr/>
          <p:nvPr/>
        </p:nvSpPr>
        <p:spPr>
          <a:xfrm>
            <a:off x="868680" y="5724144"/>
            <a:ext cx="3017520" cy="274320"/>
          </a:xfrm>
          <a:prstGeom prst="rect">
            <a:avLst/>
          </a:prstGeom>
          <a:noFill/>
          <a:ln/>
        </p:spPr>
        <p:txBody>
          <a:bodyPr wrap="square" lIns="0" tIns="0" rIns="0" bIns="0" rtlCol="0" anchor="ctr"/>
          <a:lstStyle/>
          <a:p>
            <a:pPr indent="0" marL="0">
              <a:buNone/>
            </a:pPr>
            <a:r>
              <a:rPr lang="en-US" sz="1150" dirty="0">
                <a:solidFill>
                  <a:srgbClr val="B1E882"/>
                </a:solidFill>
                <a:latin typeface="Inter" pitchFamily="34" charset="0"/>
                <a:ea typeface="Inter" pitchFamily="34" charset="-122"/>
                <a:cs typeface="Inter" pitchFamily="34" charset="-120"/>
              </a:rPr>
              <a:t>Role or company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Text 2"/>
          <p:cNvSpPr/>
          <p:nvPr/>
        </p:nvSpPr>
        <p:spPr>
          <a:xfrm>
            <a:off x="640080" y="960120"/>
            <a:ext cx="7315200" cy="731520"/>
          </a:xfrm>
          <a:prstGeom prst="rect">
            <a:avLst/>
          </a:prstGeom>
          <a:noFill/>
          <a:ln/>
        </p:spPr>
        <p:txBody>
          <a:bodyPr wrap="square" lIns="0" tIns="0" rIns="0" bIns="0" rtlCol="0" anchor="ctr"/>
          <a:lstStyle/>
          <a:p>
            <a:pPr indent="0" marL="0">
              <a:buNone/>
            </a:pPr>
            <a:r>
              <a:rPr lang="en-US" sz="3200" b="1" dirty="0">
                <a:solidFill>
                  <a:srgbClr val="101110"/>
                </a:solidFill>
                <a:latin typeface="Inter" pitchFamily="34" charset="0"/>
                <a:ea typeface="Inter" pitchFamily="34" charset="-122"/>
                <a:cs typeface="Inter" pitchFamily="34" charset="-120"/>
              </a:rPr>
              <a:t>Today</a:t>
            </a:r>
            <a:endParaRPr lang="en-US" sz="3200" dirty="0"/>
          </a:p>
        </p:txBody>
      </p:sp>
      <p:sp>
        <p:nvSpPr>
          <p:cNvPr id="5" name="Shape 3"/>
          <p:cNvSpPr/>
          <p:nvPr/>
        </p:nvSpPr>
        <p:spPr>
          <a:xfrm>
            <a:off x="640080" y="1965960"/>
            <a:ext cx="457200" cy="457200"/>
          </a:xfrm>
          <a:prstGeom prst="ellipse">
            <a:avLst/>
          </a:prstGeom>
          <a:solidFill>
            <a:srgbClr val="B1E882"/>
          </a:solidFill>
          <a:ln/>
        </p:spPr>
      </p:sp>
      <p:sp>
        <p:nvSpPr>
          <p:cNvPr id="6" name="Text 4"/>
          <p:cNvSpPr/>
          <p:nvPr/>
        </p:nvSpPr>
        <p:spPr>
          <a:xfrm>
            <a:off x="640080" y="196596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1</a:t>
            </a:r>
            <a:endParaRPr lang="en-US" sz="1700" dirty="0"/>
          </a:p>
        </p:txBody>
      </p:sp>
      <p:sp>
        <p:nvSpPr>
          <p:cNvPr id="7" name="Text 5"/>
          <p:cNvSpPr/>
          <p:nvPr/>
        </p:nvSpPr>
        <p:spPr>
          <a:xfrm>
            <a:off x="1280160" y="191109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Recap: clean + analyze, now automate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The pieces are on the table</a:t>
            </a:r>
            <a:endParaRPr lang="en-US" sz="1600" dirty="0"/>
          </a:p>
        </p:txBody>
      </p:sp>
      <p:sp>
        <p:nvSpPr>
          <p:cNvPr id="8" name="Shape 6"/>
          <p:cNvSpPr/>
          <p:nvPr/>
        </p:nvSpPr>
        <p:spPr>
          <a:xfrm>
            <a:off x="640080" y="3322320"/>
            <a:ext cx="457200" cy="457200"/>
          </a:xfrm>
          <a:prstGeom prst="ellipse">
            <a:avLst/>
          </a:prstGeom>
          <a:solidFill>
            <a:srgbClr val="B1E882"/>
          </a:solidFill>
          <a:ln/>
        </p:spPr>
      </p:sp>
      <p:sp>
        <p:nvSpPr>
          <p:cNvPr id="9" name="Text 7"/>
          <p:cNvSpPr/>
          <p:nvPr/>
        </p:nvSpPr>
        <p:spPr>
          <a:xfrm>
            <a:off x="640080" y="332232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2</a:t>
            </a:r>
            <a:endParaRPr lang="en-US" sz="1700" dirty="0"/>
          </a:p>
        </p:txBody>
      </p:sp>
      <p:sp>
        <p:nvSpPr>
          <p:cNvPr id="10" name="Text 8"/>
          <p:cNvSpPr/>
          <p:nvPr/>
        </p:nvSpPr>
        <p:spPr>
          <a:xfrm>
            <a:off x="1280160" y="326745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Anatomy of a reusable workflow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Connect → Clean → Enrich → Document</a:t>
            </a:r>
            <a:endParaRPr lang="en-US" sz="1600" dirty="0"/>
          </a:p>
        </p:txBody>
      </p:sp>
      <p:sp>
        <p:nvSpPr>
          <p:cNvPr id="11" name="Shape 9"/>
          <p:cNvSpPr/>
          <p:nvPr/>
        </p:nvSpPr>
        <p:spPr>
          <a:xfrm>
            <a:off x="640080" y="4678680"/>
            <a:ext cx="457200" cy="457200"/>
          </a:xfrm>
          <a:prstGeom prst="ellipse">
            <a:avLst/>
          </a:prstGeom>
          <a:solidFill>
            <a:srgbClr val="B1E882"/>
          </a:solidFill>
          <a:ln/>
        </p:spPr>
      </p:sp>
      <p:sp>
        <p:nvSpPr>
          <p:cNvPr id="12" name="Text 10"/>
          <p:cNvSpPr/>
          <p:nvPr/>
        </p:nvSpPr>
        <p:spPr>
          <a:xfrm>
            <a:off x="640080" y="467868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3</a:t>
            </a:r>
            <a:endParaRPr lang="en-US" sz="1700" dirty="0"/>
          </a:p>
        </p:txBody>
      </p:sp>
      <p:sp>
        <p:nvSpPr>
          <p:cNvPr id="13" name="Text 11"/>
          <p:cNvSpPr/>
          <p:nvPr/>
        </p:nvSpPr>
        <p:spPr>
          <a:xfrm>
            <a:off x="1280160" y="462381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Live build: a self-refreshing report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Combine a folder, merge a lookup, summarize</a:t>
            </a:r>
            <a:endParaRPr lang="en-US" sz="1600" dirty="0"/>
          </a:p>
        </p:txBody>
      </p:sp>
      <p:sp>
        <p:nvSpPr>
          <p:cNvPr id="14" name="Shape 12"/>
          <p:cNvSpPr/>
          <p:nvPr/>
        </p:nvSpPr>
        <p:spPr>
          <a:xfrm>
            <a:off x="6217920" y="1965960"/>
            <a:ext cx="457200" cy="457200"/>
          </a:xfrm>
          <a:prstGeom prst="ellipse">
            <a:avLst/>
          </a:prstGeom>
          <a:solidFill>
            <a:srgbClr val="B1E882"/>
          </a:solidFill>
          <a:ln/>
        </p:spPr>
      </p:sp>
      <p:sp>
        <p:nvSpPr>
          <p:cNvPr id="15" name="Text 13"/>
          <p:cNvSpPr/>
          <p:nvPr/>
        </p:nvSpPr>
        <p:spPr>
          <a:xfrm>
            <a:off x="6217920" y="196596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4</a:t>
            </a:r>
            <a:endParaRPr lang="en-US" sz="1700" dirty="0"/>
          </a:p>
        </p:txBody>
      </p:sp>
      <p:sp>
        <p:nvSpPr>
          <p:cNvPr id="16" name="Text 14"/>
          <p:cNvSpPr/>
          <p:nvPr/>
        </p:nvSpPr>
        <p:spPr>
          <a:xfrm>
            <a:off x="6858000" y="191109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Document it with AI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A run-book a teammate could follow</a:t>
            </a:r>
            <a:endParaRPr lang="en-US" sz="1600" dirty="0"/>
          </a:p>
        </p:txBody>
      </p:sp>
      <p:sp>
        <p:nvSpPr>
          <p:cNvPr id="17" name="Shape 15"/>
          <p:cNvSpPr/>
          <p:nvPr/>
        </p:nvSpPr>
        <p:spPr>
          <a:xfrm>
            <a:off x="6217920" y="3322320"/>
            <a:ext cx="457200" cy="457200"/>
          </a:xfrm>
          <a:prstGeom prst="ellipse">
            <a:avLst/>
          </a:prstGeom>
          <a:solidFill>
            <a:srgbClr val="B1E882"/>
          </a:solidFill>
          <a:ln/>
        </p:spPr>
      </p:sp>
      <p:sp>
        <p:nvSpPr>
          <p:cNvPr id="18" name="Text 16"/>
          <p:cNvSpPr/>
          <p:nvPr/>
        </p:nvSpPr>
        <p:spPr>
          <a:xfrm>
            <a:off x="6217920" y="332232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5</a:t>
            </a:r>
            <a:endParaRPr lang="en-US" sz="1700" dirty="0"/>
          </a:p>
        </p:txBody>
      </p:sp>
      <p:sp>
        <p:nvSpPr>
          <p:cNvPr id="19" name="Text 17"/>
          <p:cNvSpPr/>
          <p:nvPr/>
        </p:nvSpPr>
        <p:spPr>
          <a:xfrm>
            <a:off x="6858000" y="326745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Where workflows break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And how to work around it</a:t>
            </a:r>
            <a:endParaRPr lang="en-US" sz="1600" dirty="0"/>
          </a:p>
        </p:txBody>
      </p:sp>
      <p:sp>
        <p:nvSpPr>
          <p:cNvPr id="20" name="Shape 18"/>
          <p:cNvSpPr/>
          <p:nvPr/>
        </p:nvSpPr>
        <p:spPr>
          <a:xfrm>
            <a:off x="6217920" y="4678680"/>
            <a:ext cx="457200" cy="457200"/>
          </a:xfrm>
          <a:prstGeom prst="ellipse">
            <a:avLst/>
          </a:prstGeom>
          <a:solidFill>
            <a:srgbClr val="B1E882"/>
          </a:solidFill>
          <a:ln/>
        </p:spPr>
      </p:sp>
      <p:sp>
        <p:nvSpPr>
          <p:cNvPr id="21" name="Text 19"/>
          <p:cNvSpPr/>
          <p:nvPr/>
        </p:nvSpPr>
        <p:spPr>
          <a:xfrm>
            <a:off x="6217920" y="467868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6</a:t>
            </a:r>
            <a:endParaRPr lang="en-US" sz="1700" dirty="0"/>
          </a:p>
        </p:txBody>
      </p:sp>
      <p:sp>
        <p:nvSpPr>
          <p:cNvPr id="22" name="Text 20"/>
          <p:cNvSpPr/>
          <p:nvPr/>
        </p:nvSpPr>
        <p:spPr>
          <a:xfrm>
            <a:off x="6858000" y="462381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Your capstone + Q&amp;A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What to build, and how it's assessed</a:t>
            </a:r>
            <a:endParaRPr lang="en-US" sz="1600" dirty="0"/>
          </a:p>
        </p:txBody>
      </p:sp>
      <p:sp>
        <p:nvSpPr>
          <p:cNvPr id="23" name="Text 21"/>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1</a:t>
            </a:r>
            <a:endParaRPr lang="en-US" sz="1000" dirty="0"/>
          </a:p>
        </p:txBody>
      </p:sp>
      <p:sp>
        <p:nvSpPr>
          <p:cNvPr id="24" name="Text 22"/>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2418588"/>
            <a:ext cx="146304" cy="146304"/>
          </a:xfrm>
          <a:prstGeom prst="roundRect">
            <a:avLst>
              <a:gd name="adj" fmla="val 25000"/>
            </a:avLst>
          </a:prstGeom>
          <a:solidFill>
            <a:srgbClr val="B1E882"/>
          </a:solidFill>
          <a:ln/>
        </p:spPr>
      </p:sp>
      <p:sp>
        <p:nvSpPr>
          <p:cNvPr id="5" name="Text 3"/>
          <p:cNvSpPr/>
          <p:nvPr/>
        </p:nvSpPr>
        <p:spPr>
          <a:xfrm>
            <a:off x="877824" y="2377440"/>
            <a:ext cx="8229600" cy="256032"/>
          </a:xfrm>
          <a:prstGeom prst="rect">
            <a:avLst/>
          </a:prstGeom>
          <a:noFill/>
          <a:ln/>
        </p:spPr>
        <p:txBody>
          <a:bodyPr wrap="square" lIns="0" tIns="0" rIns="0" bIns="0" rtlCol="0" anchor="ctr"/>
          <a:lstStyle/>
          <a:p>
            <a:pPr indent="0" marL="0">
              <a:buNone/>
            </a:pPr>
            <a:r>
              <a:rPr lang="en-US" sz="1200" b="1" spc="200" kern="0" dirty="0">
                <a:solidFill>
                  <a:srgbClr val="B1E882"/>
                </a:solidFill>
                <a:latin typeface="Inter" pitchFamily="34" charset="0"/>
                <a:ea typeface="Inter" pitchFamily="34" charset="-122"/>
                <a:cs typeface="Inter" pitchFamily="34" charset="-120"/>
              </a:rPr>
              <a:t>THE SHIFT</a:t>
            </a:r>
            <a:endParaRPr lang="en-US" sz="1200" dirty="0"/>
          </a:p>
        </p:txBody>
      </p:sp>
      <p:sp>
        <p:nvSpPr>
          <p:cNvPr id="6" name="Text 4"/>
          <p:cNvSpPr/>
          <p:nvPr/>
        </p:nvSpPr>
        <p:spPr>
          <a:xfrm>
            <a:off x="640080" y="2743200"/>
            <a:ext cx="10607040" cy="237744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Inter" pitchFamily="34" charset="0"/>
                <a:ea typeface="Inter" pitchFamily="34" charset="-122"/>
                <a:cs typeface="Inter" pitchFamily="34" charset="-120"/>
              </a:rPr>
              <a:t>Your capstone isn't a number. It's a workflow that produces the number again next month — on its own.</a:t>
            </a:r>
            <a:endParaRPr lang="en-US" sz="3400" dirty="0"/>
          </a:p>
        </p:txBody>
      </p:sp>
      <p:sp>
        <p:nvSpPr>
          <p:cNvPr id="7" name="Text 5"/>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7A7E78"/>
                </a:solidFill>
                <a:latin typeface="Inter" pitchFamily="34" charset="0"/>
                <a:ea typeface="Inter" pitchFamily="34" charset="-122"/>
                <a:cs typeface="Inter" pitchFamily="34" charset="-120"/>
              </a:rPr>
              <a:t>2</a:t>
            </a:r>
            <a:endParaRPr lang="en-US" sz="1000" dirty="0"/>
          </a:p>
        </p:txBody>
      </p:sp>
      <p:sp>
        <p:nvSpPr>
          <p:cNvPr id="8" name="Text 6"/>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7A7E78"/>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THE PATTERN</a:t>
            </a:r>
            <a:endParaRPr lang="en-US" sz="1200" dirty="0"/>
          </a:p>
        </p:txBody>
      </p:sp>
      <p:sp>
        <p:nvSpPr>
          <p:cNvPr id="6" name="Text 4"/>
          <p:cNvSpPr/>
          <p:nvPr/>
        </p:nvSpPr>
        <p:spPr>
          <a:xfrm>
            <a:off x="640080" y="123444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Anatomy of a reusable workflow</a:t>
            </a:r>
            <a:endParaRPr lang="en-US" sz="3000" dirty="0"/>
          </a:p>
        </p:txBody>
      </p:sp>
      <p:sp>
        <p:nvSpPr>
          <p:cNvPr id="7" name="Shape 5"/>
          <p:cNvSpPr/>
          <p:nvPr/>
        </p:nvSpPr>
        <p:spPr>
          <a:xfrm>
            <a:off x="640080" y="237744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8" name="Shape 6"/>
          <p:cNvSpPr/>
          <p:nvPr/>
        </p:nvSpPr>
        <p:spPr>
          <a:xfrm>
            <a:off x="914400" y="2651760"/>
            <a:ext cx="502920" cy="502920"/>
          </a:xfrm>
          <a:prstGeom prst="roundRect">
            <a:avLst>
              <a:gd name="adj" fmla="val 23636"/>
            </a:avLst>
          </a:prstGeom>
          <a:solidFill>
            <a:srgbClr val="B1E882"/>
          </a:solidFill>
          <a:ln/>
        </p:spPr>
      </p:sp>
      <p:sp>
        <p:nvSpPr>
          <p:cNvPr id="9" name="Text 7"/>
          <p:cNvSpPr/>
          <p:nvPr/>
        </p:nvSpPr>
        <p:spPr>
          <a:xfrm>
            <a:off x="914400" y="265176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1</a:t>
            </a:r>
            <a:endParaRPr lang="en-US" sz="1800" dirty="0"/>
          </a:p>
        </p:txBody>
      </p:sp>
      <p:sp>
        <p:nvSpPr>
          <p:cNvPr id="10" name="Text 8"/>
          <p:cNvSpPr/>
          <p:nvPr/>
        </p:nvSpPr>
        <p:spPr>
          <a:xfrm>
            <a:off x="914400" y="329184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Connect</a:t>
            </a:r>
            <a:endParaRPr lang="en-US" sz="1550" dirty="0"/>
          </a:p>
        </p:txBody>
      </p:sp>
      <p:sp>
        <p:nvSpPr>
          <p:cNvPr id="11" name="Text 9"/>
          <p:cNvSpPr/>
          <p:nvPr/>
        </p:nvSpPr>
        <p:spPr>
          <a:xfrm>
            <a:off x="914400" y="374904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Point at the source — a file, or a FOLDER of monthly files. Never copy-paste. A connection can be refreshed.</a:t>
            </a:r>
            <a:endParaRPr lang="en-US" sz="1200" dirty="0"/>
          </a:p>
        </p:txBody>
      </p:sp>
      <p:sp>
        <p:nvSpPr>
          <p:cNvPr id="12" name="Shape 10"/>
          <p:cNvSpPr/>
          <p:nvPr/>
        </p:nvSpPr>
        <p:spPr>
          <a:xfrm>
            <a:off x="6278728" y="237744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3" name="Shape 11"/>
          <p:cNvSpPr/>
          <p:nvPr/>
        </p:nvSpPr>
        <p:spPr>
          <a:xfrm>
            <a:off x="6553048" y="2651760"/>
            <a:ext cx="502920" cy="502920"/>
          </a:xfrm>
          <a:prstGeom prst="roundRect">
            <a:avLst>
              <a:gd name="adj" fmla="val 23636"/>
            </a:avLst>
          </a:prstGeom>
          <a:solidFill>
            <a:srgbClr val="B1E882"/>
          </a:solidFill>
          <a:ln/>
        </p:spPr>
      </p:sp>
      <p:sp>
        <p:nvSpPr>
          <p:cNvPr id="14" name="Text 12"/>
          <p:cNvSpPr/>
          <p:nvPr/>
        </p:nvSpPr>
        <p:spPr>
          <a:xfrm>
            <a:off x="6553048" y="265176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2</a:t>
            </a:r>
            <a:endParaRPr lang="en-US" sz="1800" dirty="0"/>
          </a:p>
        </p:txBody>
      </p:sp>
      <p:sp>
        <p:nvSpPr>
          <p:cNvPr id="15" name="Text 13"/>
          <p:cNvSpPr/>
          <p:nvPr/>
        </p:nvSpPr>
        <p:spPr>
          <a:xfrm>
            <a:off x="6553048" y="329184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Clean</a:t>
            </a:r>
            <a:endParaRPr lang="en-US" sz="1550" dirty="0"/>
          </a:p>
        </p:txBody>
      </p:sp>
      <p:sp>
        <p:nvSpPr>
          <p:cNvPr id="16" name="Text 14"/>
          <p:cNvSpPr/>
          <p:nvPr/>
        </p:nvSpPr>
        <p:spPr>
          <a:xfrm>
            <a:off x="6553048" y="374904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Power Query records every step. Each month's messy export gets fixed the same way, automatically.</a:t>
            </a:r>
            <a:endParaRPr lang="en-US" sz="1200" dirty="0"/>
          </a:p>
        </p:txBody>
      </p:sp>
      <p:sp>
        <p:nvSpPr>
          <p:cNvPr id="17" name="Shape 15"/>
          <p:cNvSpPr/>
          <p:nvPr/>
        </p:nvSpPr>
        <p:spPr>
          <a:xfrm>
            <a:off x="640080" y="441198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8" name="Shape 16"/>
          <p:cNvSpPr/>
          <p:nvPr/>
        </p:nvSpPr>
        <p:spPr>
          <a:xfrm>
            <a:off x="914400" y="4686300"/>
            <a:ext cx="502920" cy="502920"/>
          </a:xfrm>
          <a:prstGeom prst="roundRect">
            <a:avLst>
              <a:gd name="adj" fmla="val 23636"/>
            </a:avLst>
          </a:prstGeom>
          <a:solidFill>
            <a:srgbClr val="B1E882"/>
          </a:solidFill>
          <a:ln/>
        </p:spPr>
      </p:sp>
      <p:sp>
        <p:nvSpPr>
          <p:cNvPr id="19" name="Text 17"/>
          <p:cNvSpPr/>
          <p:nvPr/>
        </p:nvSpPr>
        <p:spPr>
          <a:xfrm>
            <a:off x="914400" y="468630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3</a:t>
            </a:r>
            <a:endParaRPr lang="en-US" sz="1800" dirty="0"/>
          </a:p>
        </p:txBody>
      </p:sp>
      <p:sp>
        <p:nvSpPr>
          <p:cNvPr id="20" name="Text 18"/>
          <p:cNvSpPr/>
          <p:nvPr/>
        </p:nvSpPr>
        <p:spPr>
          <a:xfrm>
            <a:off x="914400" y="532638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Enrich &amp; summarize</a:t>
            </a:r>
            <a:endParaRPr lang="en-US" sz="1550" dirty="0"/>
          </a:p>
        </p:txBody>
      </p:sp>
      <p:sp>
        <p:nvSpPr>
          <p:cNvPr id="21" name="Text 19"/>
          <p:cNvSpPr/>
          <p:nvPr/>
        </p:nvSpPr>
        <p:spPr>
          <a:xfrm>
            <a:off x="914400" y="578358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Merge a lookup, then PivotTable or Python in Excel. One source of truth feeds your report.</a:t>
            </a:r>
            <a:endParaRPr lang="en-US" sz="1200" dirty="0"/>
          </a:p>
        </p:txBody>
      </p:sp>
      <p:sp>
        <p:nvSpPr>
          <p:cNvPr id="22" name="Shape 20"/>
          <p:cNvSpPr/>
          <p:nvPr/>
        </p:nvSpPr>
        <p:spPr>
          <a:xfrm>
            <a:off x="6278728" y="441198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23" name="Shape 21"/>
          <p:cNvSpPr/>
          <p:nvPr/>
        </p:nvSpPr>
        <p:spPr>
          <a:xfrm>
            <a:off x="6553048" y="4686300"/>
            <a:ext cx="502920" cy="502920"/>
          </a:xfrm>
          <a:prstGeom prst="roundRect">
            <a:avLst>
              <a:gd name="adj" fmla="val 23636"/>
            </a:avLst>
          </a:prstGeom>
          <a:solidFill>
            <a:srgbClr val="B1E882"/>
          </a:solidFill>
          <a:ln/>
        </p:spPr>
      </p:sp>
      <p:sp>
        <p:nvSpPr>
          <p:cNvPr id="24" name="Text 22"/>
          <p:cNvSpPr/>
          <p:nvPr/>
        </p:nvSpPr>
        <p:spPr>
          <a:xfrm>
            <a:off x="6553048" y="468630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4</a:t>
            </a:r>
            <a:endParaRPr lang="en-US" sz="1800" dirty="0"/>
          </a:p>
        </p:txBody>
      </p:sp>
      <p:sp>
        <p:nvSpPr>
          <p:cNvPr id="25" name="Text 23"/>
          <p:cNvSpPr/>
          <p:nvPr/>
        </p:nvSpPr>
        <p:spPr>
          <a:xfrm>
            <a:off x="6553048" y="532638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Document</a:t>
            </a:r>
            <a:endParaRPr lang="en-US" sz="1550" dirty="0"/>
          </a:p>
        </p:txBody>
      </p:sp>
      <p:sp>
        <p:nvSpPr>
          <p:cNvPr id="26" name="Text 24"/>
          <p:cNvSpPr/>
          <p:nvPr/>
        </p:nvSpPr>
        <p:spPr>
          <a:xfrm>
            <a:off x="6553048" y="578358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AI writes the run-book so a teammate — or future you — can run it. Then you edit it to make it true.</a:t>
            </a:r>
            <a:endParaRPr lang="en-US" sz="1200" dirty="0"/>
          </a:p>
        </p:txBody>
      </p:sp>
      <p:sp>
        <p:nvSpPr>
          <p:cNvPr id="27" name="Text 25"/>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3</a:t>
            </a:r>
            <a:endParaRPr lang="en-US" sz="1000" dirty="0"/>
          </a:p>
        </p:txBody>
      </p:sp>
      <p:sp>
        <p:nvSpPr>
          <p:cNvPr id="28" name="Text 26"/>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2784348"/>
            <a:ext cx="146304" cy="146304"/>
          </a:xfrm>
          <a:prstGeom prst="roundRect">
            <a:avLst>
              <a:gd name="adj" fmla="val 25000"/>
            </a:avLst>
          </a:prstGeom>
          <a:solidFill>
            <a:srgbClr val="B1E882"/>
          </a:solidFill>
          <a:ln/>
        </p:spPr>
      </p:sp>
      <p:sp>
        <p:nvSpPr>
          <p:cNvPr id="5" name="Text 3"/>
          <p:cNvSpPr/>
          <p:nvPr/>
        </p:nvSpPr>
        <p:spPr>
          <a:xfrm>
            <a:off x="877824" y="2743200"/>
            <a:ext cx="8229600" cy="256032"/>
          </a:xfrm>
          <a:prstGeom prst="rect">
            <a:avLst/>
          </a:prstGeom>
          <a:noFill/>
          <a:ln/>
        </p:spPr>
        <p:txBody>
          <a:bodyPr wrap="square" lIns="0" tIns="0" rIns="0" bIns="0" rtlCol="0" anchor="ctr"/>
          <a:lstStyle/>
          <a:p>
            <a:pPr indent="0" marL="0">
              <a:buNone/>
            </a:pPr>
            <a:r>
              <a:rPr lang="en-US" sz="1200" b="1" spc="200" kern="0" dirty="0">
                <a:solidFill>
                  <a:srgbClr val="B1E882"/>
                </a:solidFill>
                <a:latin typeface="Inter" pitchFamily="34" charset="0"/>
                <a:ea typeface="Inter" pitchFamily="34" charset="-122"/>
                <a:cs typeface="Inter" pitchFamily="34" charset="-120"/>
              </a:rPr>
              <a:t>LIVE BUILD</a:t>
            </a:r>
            <a:endParaRPr lang="en-US" sz="1200" dirty="0"/>
          </a:p>
        </p:txBody>
      </p:sp>
      <p:sp>
        <p:nvSpPr>
          <p:cNvPr id="6" name="Text 4"/>
          <p:cNvSpPr/>
          <p:nvPr/>
        </p:nvSpPr>
        <p:spPr>
          <a:xfrm>
            <a:off x="621792" y="3108960"/>
            <a:ext cx="10058400" cy="201168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Inter" pitchFamily="34" charset="0"/>
                <a:ea typeface="Inter" pitchFamily="34" charset="-122"/>
                <a:cs typeface="Inter" pitchFamily="34" charset="-120"/>
              </a:rPr>
              <a:t>A monthly spend report that refreshes itself</a:t>
            </a:r>
            <a:endParaRPr lang="en-US" sz="4000" dirty="0"/>
          </a:p>
        </p:txBody>
      </p:sp>
      <p:sp>
        <p:nvSpPr>
          <p:cNvPr id="7" name="Text 5"/>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7A7E78"/>
                </a:solidFill>
                <a:latin typeface="Inter" pitchFamily="34" charset="0"/>
                <a:ea typeface="Inter" pitchFamily="34" charset="-122"/>
                <a:cs typeface="Inter" pitchFamily="34" charset="-120"/>
              </a:rPr>
              <a:t>4</a:t>
            </a:r>
            <a:endParaRPr lang="en-US" sz="1000" dirty="0"/>
          </a:p>
        </p:txBody>
      </p:sp>
      <p:sp>
        <p:nvSpPr>
          <p:cNvPr id="8" name="Text 6"/>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7A7E78"/>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1188720"/>
            <a:ext cx="1828800" cy="457200"/>
          </a:xfrm>
          <a:prstGeom prst="roundRect">
            <a:avLst>
              <a:gd name="adj" fmla="val 24000"/>
            </a:avLst>
          </a:prstGeom>
          <a:solidFill>
            <a:srgbClr val="B1E882"/>
          </a:solidFill>
          <a:ln/>
        </p:spPr>
      </p:sp>
      <p:sp>
        <p:nvSpPr>
          <p:cNvPr id="5" name="Text 3"/>
          <p:cNvSpPr/>
          <p:nvPr/>
        </p:nvSpPr>
        <p:spPr>
          <a:xfrm>
            <a:off x="640080" y="1188720"/>
            <a:ext cx="1828800" cy="457200"/>
          </a:xfrm>
          <a:prstGeom prst="rect">
            <a:avLst/>
          </a:prstGeom>
          <a:noFill/>
          <a:ln/>
        </p:spPr>
        <p:txBody>
          <a:bodyPr wrap="square" lIns="0" tIns="0" rIns="0" bIns="0" rtlCol="0" anchor="ctr"/>
          <a:lstStyle/>
          <a:p>
            <a:pPr algn="ctr" indent="0" marL="0">
              <a:buNone/>
            </a:pPr>
            <a:r>
              <a:rPr lang="en-US" sz="1300" b="1" spc="200" kern="0" dirty="0">
                <a:solidFill>
                  <a:srgbClr val="101110"/>
                </a:solidFill>
                <a:latin typeface="Inter" pitchFamily="34" charset="0"/>
                <a:ea typeface="Inter" pitchFamily="34" charset="-122"/>
                <a:cs typeface="Inter" pitchFamily="34" charset="-120"/>
              </a:rPr>
              <a:t>LIVE DEMO</a:t>
            </a:r>
            <a:endParaRPr lang="en-US" sz="1300" dirty="0"/>
          </a:p>
        </p:txBody>
      </p:sp>
      <p:sp>
        <p:nvSpPr>
          <p:cNvPr id="6" name="Text 4"/>
          <p:cNvSpPr/>
          <p:nvPr/>
        </p:nvSpPr>
        <p:spPr>
          <a:xfrm>
            <a:off x="640080" y="1874520"/>
            <a:ext cx="10424160" cy="914400"/>
          </a:xfrm>
          <a:prstGeom prst="rect">
            <a:avLst/>
          </a:prstGeom>
          <a:noFill/>
          <a:ln/>
        </p:spPr>
        <p:txBody>
          <a:bodyPr wrap="square" lIns="0" tIns="0" rIns="0" bIns="0" rtlCol="0" anchor="ctr"/>
          <a:lstStyle/>
          <a:p>
            <a:pPr indent="0" marL="0">
              <a:buNone/>
            </a:pPr>
            <a:r>
              <a:rPr lang="en-US" sz="3200" b="1" dirty="0">
                <a:solidFill>
                  <a:srgbClr val="FFFFFF"/>
                </a:solidFill>
                <a:latin typeface="Inter" pitchFamily="34" charset="0"/>
                <a:ea typeface="Inter" pitchFamily="34" charset="-122"/>
                <a:cs typeface="Inter" pitchFamily="34" charset="-120"/>
              </a:rPr>
              <a:t>Combine a folder, merge a lookup, summarize</a:t>
            </a:r>
            <a:endParaRPr lang="en-US" sz="3200" dirty="0"/>
          </a:p>
        </p:txBody>
      </p:sp>
      <p:sp>
        <p:nvSpPr>
          <p:cNvPr id="7" name="Text 5"/>
          <p:cNvSpPr/>
          <p:nvPr/>
        </p:nvSpPr>
        <p:spPr>
          <a:xfrm>
            <a:off x="640080" y="2743200"/>
            <a:ext cx="10058400" cy="457200"/>
          </a:xfrm>
          <a:prstGeom prst="rect">
            <a:avLst/>
          </a:prstGeom>
          <a:noFill/>
          <a:ln/>
        </p:spPr>
        <p:txBody>
          <a:bodyPr wrap="square" lIns="0" tIns="0" rIns="0" bIns="0" rtlCol="0" anchor="ctr"/>
          <a:lstStyle/>
          <a:p>
            <a:pPr indent="0" marL="0">
              <a:buNone/>
            </a:pPr>
            <a:r>
              <a:rPr lang="en-US" sz="1500" dirty="0">
                <a:solidFill>
                  <a:srgbClr val="B9BDB6"/>
                </a:solidFill>
                <a:latin typeface="Inter" pitchFamily="34" charset="0"/>
                <a:ea typeface="Inter" pitchFamily="34" charset="-122"/>
                <a:cs typeface="Inter" pitchFamily="34" charset="-120"/>
              </a:rPr>
              <a:t>datasets/session-3/monthly-expenses/ + vendor-master.xlsx</a:t>
            </a:r>
            <a:endParaRPr lang="en-US" sz="1500" dirty="0"/>
          </a:p>
        </p:txBody>
      </p:sp>
      <p:sp>
        <p:nvSpPr>
          <p:cNvPr id="8" name="Text 6"/>
          <p:cNvSpPr/>
          <p:nvPr/>
        </p:nvSpPr>
        <p:spPr>
          <a:xfrm>
            <a:off x="640080" y="3383280"/>
            <a:ext cx="10424160" cy="2926080"/>
          </a:xfrm>
          <a:prstGeom prst="rect">
            <a:avLst/>
          </a:prstGeom>
          <a:noFill/>
          <a:ln/>
        </p:spPr>
        <p:txBody>
          <a:bodyPr wrap="square" lIns="0" tIns="0" rIns="0" bIns="0" rtlCol="0" anchor="t"/>
          <a:lstStyle/>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1.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Get Data ▸ From Folder → point at monthly-expenses → Combine &amp; Transform. All 3 files stack into one table.</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2.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Clean: Trim/Proper the Vendor names; strip $ and commas from Amount; set Date and Amount types.</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3.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Merge to VendorMaster on Vendor Name to add Spend Category. Blank category = a vendor that didn't match (a free QC check).</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4.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Summarize: PivotTable (Category × Month) or a Python in Excel pivot_table — pick your road.</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5.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Drop in a 4th monthly file and click Data ▸ Refresh All. Watch everything update. That's the workflow.</a:t>
            </a:r>
            <a:endParaRPr lang="en-US" sz="1500" dirty="0"/>
          </a:p>
        </p:txBody>
      </p:sp>
      <p:sp>
        <p:nvSpPr>
          <p:cNvPr id="9" name="Text 7"/>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7A7E78"/>
                </a:solidFill>
                <a:latin typeface="Inter" pitchFamily="34" charset="0"/>
                <a:ea typeface="Inter" pitchFamily="34" charset="-122"/>
                <a:cs typeface="Inter" pitchFamily="34" charset="-120"/>
              </a:rPr>
              <a:t>5</a:t>
            </a:r>
            <a:endParaRPr lang="en-US" sz="1000" dirty="0"/>
          </a:p>
        </p:txBody>
      </p:sp>
      <p:sp>
        <p:nvSpPr>
          <p:cNvPr id="10" name="Text 8"/>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7A7E78"/>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THE PAYOFF</a:t>
            </a:r>
            <a:endParaRPr lang="en-US" sz="1200" dirty="0"/>
          </a:p>
        </p:txBody>
      </p:sp>
      <p:sp>
        <p:nvSpPr>
          <p:cNvPr id="6" name="Text 4"/>
          <p:cNvSpPr/>
          <p:nvPr/>
        </p:nvSpPr>
        <p:spPr>
          <a:xfrm>
            <a:off x="640080" y="123444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What 'refreshable' is worth</a:t>
            </a:r>
            <a:endParaRPr lang="en-US" sz="3000" dirty="0"/>
          </a:p>
        </p:txBody>
      </p:sp>
      <p:sp>
        <p:nvSpPr>
          <p:cNvPr id="7" name="Shape 5"/>
          <p:cNvSpPr/>
          <p:nvPr/>
        </p:nvSpPr>
        <p:spPr>
          <a:xfrm>
            <a:off x="640080" y="2651760"/>
            <a:ext cx="3393338" cy="2468880"/>
          </a:xfrm>
          <a:prstGeom prst="roundRect">
            <a:avLst>
              <a:gd name="adj" fmla="val 5926"/>
            </a:avLst>
          </a:prstGeom>
          <a:solidFill>
            <a:srgbClr val="101110"/>
          </a:solidFill>
          <a:ln/>
          <a:effectLst>
            <a:outerShdw sx="100000" sy="100000" kx="0" ky="0" algn="bl" rotWithShape="0" blurRad="114300" dist="38100" dir="5400000">
              <a:srgbClr val="000000">
                <a:alpha val="10000"/>
              </a:srgbClr>
            </a:outerShdw>
          </a:effectLst>
        </p:spPr>
      </p:sp>
      <p:sp>
        <p:nvSpPr>
          <p:cNvPr id="8" name="Text 6"/>
          <p:cNvSpPr/>
          <p:nvPr/>
        </p:nvSpPr>
        <p:spPr>
          <a:xfrm>
            <a:off x="822960" y="3063240"/>
            <a:ext cx="3027578" cy="1005840"/>
          </a:xfrm>
          <a:prstGeom prst="rect">
            <a:avLst/>
          </a:prstGeom>
          <a:noFill/>
          <a:ln/>
        </p:spPr>
        <p:txBody>
          <a:bodyPr wrap="square" lIns="0" tIns="0" rIns="0" bIns="0" rtlCol="0" anchor="ctr"/>
          <a:lstStyle/>
          <a:p>
            <a:pPr algn="ctr" indent="0" marL="0">
              <a:buNone/>
            </a:pPr>
            <a:r>
              <a:rPr lang="en-US" sz="4600" b="1" dirty="0">
                <a:solidFill>
                  <a:srgbClr val="B1E882"/>
                </a:solidFill>
                <a:latin typeface="Inter" pitchFamily="34" charset="0"/>
                <a:ea typeface="Inter" pitchFamily="34" charset="-122"/>
                <a:cs typeface="Inter" pitchFamily="34" charset="-120"/>
              </a:rPr>
              <a:t>3→1</a:t>
            </a:r>
            <a:endParaRPr lang="en-US" sz="4600" dirty="0"/>
          </a:p>
        </p:txBody>
      </p:sp>
      <p:sp>
        <p:nvSpPr>
          <p:cNvPr id="9" name="Text 7"/>
          <p:cNvSpPr/>
          <p:nvPr/>
        </p:nvSpPr>
        <p:spPr>
          <a:xfrm>
            <a:off x="868680" y="4206240"/>
            <a:ext cx="2936138" cy="822960"/>
          </a:xfrm>
          <a:prstGeom prst="rect">
            <a:avLst/>
          </a:prstGeom>
          <a:noFill/>
          <a:ln/>
        </p:spPr>
        <p:txBody>
          <a:bodyPr wrap="square" lIns="0" tIns="0" rIns="0" bIns="0" rtlCol="0" anchor="t"/>
          <a:lstStyle/>
          <a:p>
            <a:pPr algn="ctr" indent="0" marL="0">
              <a:lnSpc>
                <a:spcPct val="110000"/>
              </a:lnSpc>
              <a:buNone/>
            </a:pPr>
            <a:r>
              <a:rPr lang="en-US" sz="1300" dirty="0">
                <a:solidFill>
                  <a:srgbClr val="D6D9D2"/>
                </a:solidFill>
                <a:latin typeface="Inter" pitchFamily="34" charset="0"/>
                <a:ea typeface="Inter" pitchFamily="34" charset="-122"/>
                <a:cs typeface="Inter" pitchFamily="34" charset="-120"/>
              </a:rPr>
              <a:t>monthly files combined into one report — and the 4th is automatic</a:t>
            </a:r>
            <a:endParaRPr lang="en-US" sz="1300" dirty="0"/>
          </a:p>
        </p:txBody>
      </p:sp>
      <p:sp>
        <p:nvSpPr>
          <p:cNvPr id="10" name="Shape 8"/>
          <p:cNvSpPr/>
          <p:nvPr/>
        </p:nvSpPr>
        <p:spPr>
          <a:xfrm>
            <a:off x="4399178" y="2651760"/>
            <a:ext cx="3393338" cy="2468880"/>
          </a:xfrm>
          <a:prstGeom prst="roundRect">
            <a:avLst>
              <a:gd name="adj" fmla="val 5926"/>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1" name="Text 9"/>
          <p:cNvSpPr/>
          <p:nvPr/>
        </p:nvSpPr>
        <p:spPr>
          <a:xfrm>
            <a:off x="4582058" y="3063240"/>
            <a:ext cx="3027578" cy="1005840"/>
          </a:xfrm>
          <a:prstGeom prst="rect">
            <a:avLst/>
          </a:prstGeom>
          <a:noFill/>
          <a:ln/>
        </p:spPr>
        <p:txBody>
          <a:bodyPr wrap="square" lIns="0" tIns="0" rIns="0" bIns="0" rtlCol="0" anchor="ctr"/>
          <a:lstStyle/>
          <a:p>
            <a:pPr algn="ctr" indent="0" marL="0">
              <a:buNone/>
            </a:pPr>
            <a:r>
              <a:rPr lang="en-US" sz="4600" b="1" dirty="0">
                <a:solidFill>
                  <a:srgbClr val="101110"/>
                </a:solidFill>
                <a:latin typeface="Inter" pitchFamily="34" charset="0"/>
                <a:ea typeface="Inter" pitchFamily="34" charset="-122"/>
                <a:cs typeface="Inter" pitchFamily="34" charset="-120"/>
              </a:rPr>
              <a:t>$1.13M</a:t>
            </a:r>
            <a:endParaRPr lang="en-US" sz="4600" dirty="0"/>
          </a:p>
        </p:txBody>
      </p:sp>
      <p:sp>
        <p:nvSpPr>
          <p:cNvPr id="12" name="Text 10"/>
          <p:cNvSpPr/>
          <p:nvPr/>
        </p:nvSpPr>
        <p:spPr>
          <a:xfrm>
            <a:off x="4627778" y="4206240"/>
            <a:ext cx="2936138" cy="822960"/>
          </a:xfrm>
          <a:prstGeom prst="rect">
            <a:avLst/>
          </a:prstGeom>
          <a:noFill/>
          <a:ln/>
        </p:spPr>
        <p:txBody>
          <a:bodyPr wrap="square" lIns="0" tIns="0" rIns="0" bIns="0" rtlCol="0" anchor="t"/>
          <a:lstStyle/>
          <a:p>
            <a:pPr algn="ctr" indent="0" marL="0">
              <a:lnSpc>
                <a:spcPct val="110000"/>
              </a:lnSpc>
              <a:buNone/>
            </a:pPr>
            <a:r>
              <a:rPr lang="en-US" sz="1300" dirty="0">
                <a:solidFill>
                  <a:srgbClr val="3A3D38"/>
                </a:solidFill>
                <a:latin typeface="Inter" pitchFamily="34" charset="0"/>
                <a:ea typeface="Inter" pitchFamily="34" charset="-122"/>
                <a:cs typeface="Inter" pitchFamily="34" charset="-120"/>
              </a:rPr>
              <a:t>spend summarized across files, recomputed on every refresh</a:t>
            </a:r>
            <a:endParaRPr lang="en-US" sz="1300" dirty="0"/>
          </a:p>
        </p:txBody>
      </p:sp>
      <p:sp>
        <p:nvSpPr>
          <p:cNvPr id="13" name="Shape 11"/>
          <p:cNvSpPr/>
          <p:nvPr/>
        </p:nvSpPr>
        <p:spPr>
          <a:xfrm>
            <a:off x="8158277" y="2651760"/>
            <a:ext cx="3393338" cy="2468880"/>
          </a:xfrm>
          <a:prstGeom prst="roundRect">
            <a:avLst>
              <a:gd name="adj" fmla="val 5926"/>
            </a:avLst>
          </a:prstGeom>
          <a:solidFill>
            <a:srgbClr val="101110"/>
          </a:solidFill>
          <a:ln/>
          <a:effectLst>
            <a:outerShdw sx="100000" sy="100000" kx="0" ky="0" algn="bl" rotWithShape="0" blurRad="114300" dist="38100" dir="5400000">
              <a:srgbClr val="000000">
                <a:alpha val="10000"/>
              </a:srgbClr>
            </a:outerShdw>
          </a:effectLst>
        </p:spPr>
      </p:sp>
      <p:sp>
        <p:nvSpPr>
          <p:cNvPr id="14" name="Text 12"/>
          <p:cNvSpPr/>
          <p:nvPr/>
        </p:nvSpPr>
        <p:spPr>
          <a:xfrm>
            <a:off x="8341157" y="3063240"/>
            <a:ext cx="3027578" cy="1005840"/>
          </a:xfrm>
          <a:prstGeom prst="rect">
            <a:avLst/>
          </a:prstGeom>
          <a:noFill/>
          <a:ln/>
        </p:spPr>
        <p:txBody>
          <a:bodyPr wrap="square" lIns="0" tIns="0" rIns="0" bIns="0" rtlCol="0" anchor="ctr"/>
          <a:lstStyle/>
          <a:p>
            <a:pPr algn="ctr" indent="0" marL="0">
              <a:buNone/>
            </a:pPr>
            <a:r>
              <a:rPr lang="en-US" sz="4600" b="1" dirty="0">
                <a:solidFill>
                  <a:srgbClr val="B1E882"/>
                </a:solidFill>
                <a:latin typeface="Inter" pitchFamily="34" charset="0"/>
                <a:ea typeface="Inter" pitchFamily="34" charset="-122"/>
                <a:cs typeface="Inter" pitchFamily="34" charset="-120"/>
              </a:rPr>
              <a:t>1 click</a:t>
            </a:r>
            <a:endParaRPr lang="en-US" sz="4600" dirty="0"/>
          </a:p>
        </p:txBody>
      </p:sp>
      <p:sp>
        <p:nvSpPr>
          <p:cNvPr id="15" name="Text 13"/>
          <p:cNvSpPr/>
          <p:nvPr/>
        </p:nvSpPr>
        <p:spPr>
          <a:xfrm>
            <a:off x="8386877" y="4206240"/>
            <a:ext cx="2936138" cy="822960"/>
          </a:xfrm>
          <a:prstGeom prst="rect">
            <a:avLst/>
          </a:prstGeom>
          <a:noFill/>
          <a:ln/>
        </p:spPr>
        <p:txBody>
          <a:bodyPr wrap="square" lIns="0" tIns="0" rIns="0" bIns="0" rtlCol="0" anchor="t"/>
          <a:lstStyle/>
          <a:p>
            <a:pPr algn="ctr" indent="0" marL="0">
              <a:lnSpc>
                <a:spcPct val="110000"/>
              </a:lnSpc>
              <a:buNone/>
            </a:pPr>
            <a:r>
              <a:rPr lang="en-US" sz="1300" dirty="0">
                <a:solidFill>
                  <a:srgbClr val="D6D9D2"/>
                </a:solidFill>
                <a:latin typeface="Inter" pitchFamily="34" charset="0"/>
                <a:ea typeface="Inter" pitchFamily="34" charset="-122"/>
                <a:cs typeface="Inter" pitchFamily="34" charset="-120"/>
              </a:rPr>
              <a:t>to produce next month's report once the workflow exists</a:t>
            </a:r>
            <a:endParaRPr lang="en-US" sz="1300" dirty="0"/>
          </a:p>
        </p:txBody>
      </p:sp>
      <p:sp>
        <p:nvSpPr>
          <p:cNvPr id="16" name="Text 14"/>
          <p:cNvSpPr/>
          <p:nvPr/>
        </p:nvSpPr>
        <p:spPr>
          <a:xfrm>
            <a:off x="640080" y="5394960"/>
            <a:ext cx="10607040" cy="457200"/>
          </a:xfrm>
          <a:prstGeom prst="rect">
            <a:avLst/>
          </a:prstGeom>
          <a:noFill/>
          <a:ln/>
        </p:spPr>
        <p:txBody>
          <a:bodyPr wrap="square" lIns="0" tIns="0" rIns="0" bIns="0" rtlCol="0" anchor="ctr"/>
          <a:lstStyle/>
          <a:p>
            <a:pPr indent="0" marL="0">
              <a:buNone/>
            </a:pPr>
            <a:r>
              <a:rPr lang="en-US" sz="1100" i="1" dirty="0">
                <a:solidFill>
                  <a:srgbClr val="6B6F6B"/>
                </a:solidFill>
                <a:latin typeface="Inter" pitchFamily="34" charset="0"/>
                <a:ea typeface="Inter" pitchFamily="34" charset="-122"/>
                <a:cs typeface="Inter" pitchFamily="34" charset="-120"/>
              </a:rPr>
              <a:t>Build the pipeline once; it pays you back every reporting cycle.</a:t>
            </a:r>
            <a:endParaRPr lang="en-US" sz="1100" dirty="0"/>
          </a:p>
        </p:txBody>
      </p:sp>
      <p:sp>
        <p:nvSpPr>
          <p:cNvPr id="17" name="Text 15"/>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6</a:t>
            </a:r>
            <a:endParaRPr lang="en-US" sz="1000" dirty="0"/>
          </a:p>
        </p:txBody>
      </p:sp>
      <p:sp>
        <p:nvSpPr>
          <p:cNvPr id="18" name="Text 16"/>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DOCUMENT</a:t>
            </a:r>
            <a:endParaRPr lang="en-US" sz="1200" dirty="0"/>
          </a:p>
        </p:txBody>
      </p:sp>
      <p:sp>
        <p:nvSpPr>
          <p:cNvPr id="6" name="Text 4"/>
          <p:cNvSpPr/>
          <p:nvPr/>
        </p:nvSpPr>
        <p:spPr>
          <a:xfrm>
            <a:off x="640080" y="1234440"/>
            <a:ext cx="6766560" cy="914400"/>
          </a:xfrm>
          <a:prstGeom prst="rect">
            <a:avLst/>
          </a:prstGeom>
          <a:noFill/>
          <a:ln/>
        </p:spPr>
        <p:txBody>
          <a:bodyPr wrap="square" lIns="0" tIns="0" rIns="0" bIns="0" rtlCol="0" anchor="ctr"/>
          <a:lstStyle/>
          <a:p>
            <a:pPr indent="0" marL="0">
              <a:lnSpc>
                <a:spcPct val="100000"/>
              </a:lnSpc>
              <a:buNone/>
            </a:pPr>
            <a:r>
              <a:rPr lang="en-US" sz="3000" b="1" dirty="0">
                <a:solidFill>
                  <a:srgbClr val="101110"/>
                </a:solidFill>
                <a:latin typeface="Inter" pitchFamily="34" charset="0"/>
                <a:ea typeface="Inter" pitchFamily="34" charset="-122"/>
                <a:cs typeface="Inter" pitchFamily="34" charset="-120"/>
              </a:rPr>
              <a:t>Let AI write the run-book (then make it true)</a:t>
            </a:r>
            <a:endParaRPr lang="en-US" sz="3000" dirty="0"/>
          </a:p>
        </p:txBody>
      </p:sp>
      <p:sp>
        <p:nvSpPr>
          <p:cNvPr id="7" name="Text 5"/>
          <p:cNvSpPr/>
          <p:nvPr/>
        </p:nvSpPr>
        <p:spPr>
          <a:xfrm>
            <a:off x="640080" y="2286000"/>
            <a:ext cx="6583680" cy="3840480"/>
          </a:xfrm>
          <a:prstGeom prst="rect">
            <a:avLst/>
          </a:prstGeom>
          <a:noFill/>
          <a:ln/>
        </p:spPr>
        <p:txBody>
          <a:bodyPr wrap="square" lIns="0" tIns="0" rIns="0" bIns="0" rtlCol="0" anchor="t"/>
          <a:lstStyle/>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Ask for a teammate-ready run-book</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“Write steps a non-technical colleague can follow to refresh this report each month.”</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Demand a sanity-check list</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Three things to verify after each refresh — totals tie out, no blank categories, row count looks right.</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Paste it into a README tab — and edit it</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The edit is where understanding sticks. AI drafts; you verify and own it.</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Note where a human must look</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Every workflow has a judgment step. Name it explicitly in the doc.</a:t>
            </a:r>
            <a:endParaRPr lang="en-US" sz="1600" dirty="0"/>
          </a:p>
        </p:txBody>
      </p:sp>
      <p:sp>
        <p:nvSpPr>
          <p:cNvPr id="8" name="Shape 6"/>
          <p:cNvSpPr/>
          <p:nvPr/>
        </p:nvSpPr>
        <p:spPr>
          <a:xfrm>
            <a:off x="7589520" y="2240280"/>
            <a:ext cx="3931920" cy="3566160"/>
          </a:xfrm>
          <a:prstGeom prst="roundRect">
            <a:avLst>
              <a:gd name="adj" fmla="val 4103"/>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9" name="Shape 7"/>
          <p:cNvSpPr/>
          <p:nvPr/>
        </p:nvSpPr>
        <p:spPr>
          <a:xfrm>
            <a:off x="7863840" y="2555748"/>
            <a:ext cx="146304" cy="146304"/>
          </a:xfrm>
          <a:prstGeom prst="roundRect">
            <a:avLst>
              <a:gd name="adj" fmla="val 25000"/>
            </a:avLst>
          </a:prstGeom>
          <a:solidFill>
            <a:srgbClr val="B1E882"/>
          </a:solidFill>
          <a:ln/>
        </p:spPr>
      </p:sp>
      <p:sp>
        <p:nvSpPr>
          <p:cNvPr id="10" name="Text 8"/>
          <p:cNvSpPr/>
          <p:nvPr/>
        </p:nvSpPr>
        <p:spPr>
          <a:xfrm>
            <a:off x="8101584" y="25146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WHY IT MATTERS</a:t>
            </a:r>
            <a:endParaRPr lang="en-US" sz="1200" dirty="0"/>
          </a:p>
        </p:txBody>
      </p:sp>
      <p:sp>
        <p:nvSpPr>
          <p:cNvPr id="11" name="Text 9"/>
          <p:cNvSpPr/>
          <p:nvPr/>
        </p:nvSpPr>
        <p:spPr>
          <a:xfrm>
            <a:off x="7863840" y="2880360"/>
            <a:ext cx="3383280" cy="731520"/>
          </a:xfrm>
          <a:prstGeom prst="rect">
            <a:avLst/>
          </a:prstGeom>
          <a:noFill/>
          <a:ln/>
        </p:spPr>
        <p:txBody>
          <a:bodyPr wrap="square" lIns="0" tIns="0" rIns="0" bIns="0" rtlCol="0" anchor="ctr"/>
          <a:lstStyle/>
          <a:p>
            <a:pPr indent="0" marL="0">
              <a:buNone/>
            </a:pPr>
            <a:r>
              <a:rPr lang="en-US" sz="1600" b="1" dirty="0">
                <a:solidFill>
                  <a:srgbClr val="101110"/>
                </a:solidFill>
                <a:latin typeface="Inter" pitchFamily="34" charset="0"/>
                <a:ea typeface="Inter" pitchFamily="34" charset="-122"/>
                <a:cs typeface="Inter" pitchFamily="34" charset="-120"/>
              </a:rPr>
              <a:t>Undocumented = unrepeatable</a:t>
            </a:r>
            <a:endParaRPr lang="en-US" sz="1600" dirty="0"/>
          </a:p>
        </p:txBody>
      </p:sp>
      <p:sp>
        <p:nvSpPr>
          <p:cNvPr id="12" name="Text 10"/>
          <p:cNvSpPr/>
          <p:nvPr/>
        </p:nvSpPr>
        <p:spPr>
          <a:xfrm>
            <a:off x="7863840" y="3611880"/>
            <a:ext cx="3383280" cy="2103120"/>
          </a:xfrm>
          <a:prstGeom prst="rect">
            <a:avLst/>
          </a:prstGeom>
          <a:noFill/>
          <a:ln/>
        </p:spPr>
        <p:txBody>
          <a:bodyPr wrap="square" lIns="0" tIns="0" rIns="0" bIns="0" rtlCol="0" anchor="ctr"/>
          <a:lstStyle/>
          <a:p>
            <a:pPr indent="0" marL="0">
              <a:lnSpc>
                <a:spcPct val="118000"/>
              </a:lnSpc>
              <a:buNone/>
            </a:pPr>
            <a:r>
              <a:rPr lang="en-US" sz="1250" dirty="0">
                <a:solidFill>
                  <a:srgbClr val="3A3D38"/>
                </a:solidFill>
                <a:latin typeface="Inter" pitchFamily="34" charset="0"/>
                <a:ea typeface="Inter" pitchFamily="34" charset="-122"/>
                <a:cs typeface="Inter" pitchFamily="34" charset="-120"/>
              </a:rPr>
              <a:t>A workflow only you understand isn't reusable. The run-book is what makes it survive you being on vacation.</a:t>
            </a:r>
            <a:endParaRPr lang="en-US" sz="1250" dirty="0"/>
          </a:p>
        </p:txBody>
      </p:sp>
      <p:sp>
        <p:nvSpPr>
          <p:cNvPr id="13" name="Text 11"/>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7</a:t>
            </a:r>
            <a:endParaRPr lang="en-US" sz="1000" dirty="0"/>
          </a:p>
        </p:txBody>
      </p:sp>
      <p:sp>
        <p:nvSpPr>
          <p:cNvPr id="14" name="Text 12"/>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BE HONEST</a:t>
            </a:r>
            <a:endParaRPr lang="en-US" sz="1200" dirty="0"/>
          </a:p>
        </p:txBody>
      </p:sp>
      <p:sp>
        <p:nvSpPr>
          <p:cNvPr id="6" name="Text 4"/>
          <p:cNvSpPr/>
          <p:nvPr/>
        </p:nvSpPr>
        <p:spPr>
          <a:xfrm>
            <a:off x="640080" y="123444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Where workflows break — and what to do</a:t>
            </a:r>
            <a:endParaRPr lang="en-US" sz="3000" dirty="0"/>
          </a:p>
        </p:txBody>
      </p:sp>
      <p:sp>
        <p:nvSpPr>
          <p:cNvPr id="7" name="Shape 5"/>
          <p:cNvSpPr/>
          <p:nvPr/>
        </p:nvSpPr>
        <p:spPr>
          <a:xfrm>
            <a:off x="640080" y="2377440"/>
            <a:ext cx="5257800" cy="3657600"/>
          </a:xfrm>
          <a:prstGeom prst="roundRect">
            <a:avLst>
              <a:gd name="adj" fmla="val 4000"/>
            </a:avLst>
          </a:prstGeom>
          <a:solidFill>
            <a:srgbClr val="101110"/>
          </a:solidFill>
          <a:ln/>
          <a:effectLst>
            <a:outerShdw sx="100000" sy="100000" kx="0" ky="0" algn="bl" rotWithShape="0" blurRad="114300" dist="38100" dir="5400000">
              <a:srgbClr val="000000">
                <a:alpha val="10000"/>
              </a:srgbClr>
            </a:outerShdw>
          </a:effectLst>
        </p:spPr>
      </p:sp>
      <p:sp>
        <p:nvSpPr>
          <p:cNvPr id="8" name="Text 6"/>
          <p:cNvSpPr/>
          <p:nvPr/>
        </p:nvSpPr>
        <p:spPr>
          <a:xfrm>
            <a:off x="960120" y="2651760"/>
            <a:ext cx="4617720" cy="457200"/>
          </a:xfrm>
          <a:prstGeom prst="rect">
            <a:avLst/>
          </a:prstGeom>
          <a:noFill/>
          <a:ln/>
        </p:spPr>
        <p:txBody>
          <a:bodyPr wrap="square" lIns="0" tIns="0" rIns="0" bIns="0" rtlCol="0" anchor="ctr"/>
          <a:lstStyle/>
          <a:p>
            <a:pPr indent="0" marL="0">
              <a:buNone/>
            </a:pPr>
            <a:r>
              <a:rPr lang="en-US" sz="1800" b="1" dirty="0">
                <a:solidFill>
                  <a:srgbClr val="B1E882"/>
                </a:solidFill>
                <a:latin typeface="Inter" pitchFamily="34" charset="0"/>
                <a:ea typeface="Inter" pitchFamily="34" charset="-122"/>
                <a:cs typeface="Inter" pitchFamily="34" charset="-120"/>
              </a:rPr>
              <a:t>The usual failure points</a:t>
            </a:r>
            <a:endParaRPr lang="en-US" sz="1800" dirty="0"/>
          </a:p>
        </p:txBody>
      </p:sp>
      <p:sp>
        <p:nvSpPr>
          <p:cNvPr id="9" name="Text 7"/>
          <p:cNvSpPr/>
          <p:nvPr/>
        </p:nvSpPr>
        <p:spPr>
          <a:xfrm>
            <a:off x="960120" y="3246120"/>
            <a:ext cx="4617720" cy="256032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350" dirty="0">
                <a:solidFill>
                  <a:srgbClr val="E8EAE5"/>
                </a:solidFill>
                <a:latin typeface="Inter" pitchFamily="34" charset="0"/>
                <a:ea typeface="Inter" pitchFamily="34" charset="-122"/>
                <a:cs typeface="Inter" pitchFamily="34" charset="-120"/>
              </a:rPr>
              <a:t>Schema drift — next month renames 'Amount' to 'Amt' and the query errors</a:t>
            </a:r>
            <a:endParaRPr lang="en-US" sz="1350" dirty="0"/>
          </a:p>
          <a:p>
            <a:pPr marL="203200" indent="-203200">
              <a:lnSpc>
                <a:spcPct val="108000"/>
              </a:lnSpc>
              <a:spcAft>
                <a:spcPts val="800"/>
              </a:spcAft>
              <a:buSzPct val="100000"/>
              <a:buChar char="•"/>
            </a:pPr>
            <a:r>
              <a:rPr lang="en-US" sz="1350" dirty="0">
                <a:solidFill>
                  <a:srgbClr val="E8EAE5"/>
                </a:solidFill>
                <a:latin typeface="Inter" pitchFamily="34" charset="0"/>
                <a:ea typeface="Inter" pitchFamily="34" charset="-122"/>
                <a:cs typeface="Inter" pitchFamily="34" charset="-120"/>
              </a:rPr>
              <a:t>New unmatched vendors leave blank categories after the merge</a:t>
            </a:r>
            <a:endParaRPr lang="en-US" sz="1350" dirty="0"/>
          </a:p>
          <a:p>
            <a:pPr marL="203200" indent="-203200">
              <a:lnSpc>
                <a:spcPct val="108000"/>
              </a:lnSpc>
              <a:spcAft>
                <a:spcPts val="800"/>
              </a:spcAft>
              <a:buSzPct val="100000"/>
              <a:buChar char="•"/>
            </a:pPr>
            <a:r>
              <a:rPr lang="en-US" sz="1350" dirty="0">
                <a:solidFill>
                  <a:srgbClr val="E8EAE5"/>
                </a:solidFill>
                <a:latin typeface="Inter" pitchFamily="34" charset="0"/>
                <a:ea typeface="Inter" pitchFamily="34" charset="-122"/>
                <a:cs typeface="Inter" pitchFamily="34" charset="-120"/>
              </a:rPr>
              <a:t>Locale / date parsing — the #1 real-world snag when combining exports</a:t>
            </a:r>
            <a:endParaRPr lang="en-US" sz="1350" dirty="0"/>
          </a:p>
          <a:p>
            <a:pPr marL="203200" indent="-203200">
              <a:lnSpc>
                <a:spcPct val="108000"/>
              </a:lnSpc>
              <a:spcAft>
                <a:spcPts val="800"/>
              </a:spcAft>
              <a:buSzPct val="100000"/>
              <a:buChar char="•"/>
            </a:pPr>
            <a:r>
              <a:rPr lang="en-US" sz="1350" dirty="0">
                <a:solidFill>
                  <a:srgbClr val="E8EAE5"/>
                </a:solidFill>
                <a:latin typeface="Inter" pitchFamily="34" charset="0"/>
                <a:ea typeface="Inter" pitchFamily="34" charset="-122"/>
                <a:cs typeface="Inter" pitchFamily="34" charset="-120"/>
              </a:rPr>
              <a:t>Copilot won't build the pipeline for you — that's Power Query's job</a:t>
            </a:r>
            <a:endParaRPr lang="en-US" sz="1350" dirty="0"/>
          </a:p>
        </p:txBody>
      </p:sp>
      <p:sp>
        <p:nvSpPr>
          <p:cNvPr id="10" name="Shape 8"/>
          <p:cNvSpPr/>
          <p:nvPr/>
        </p:nvSpPr>
        <p:spPr>
          <a:xfrm>
            <a:off x="6217920" y="2377440"/>
            <a:ext cx="5257800" cy="3657600"/>
          </a:xfrm>
          <a:prstGeom prst="roundRect">
            <a:avLst>
              <a:gd name="adj" fmla="val 4000"/>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1" name="Text 9"/>
          <p:cNvSpPr/>
          <p:nvPr/>
        </p:nvSpPr>
        <p:spPr>
          <a:xfrm>
            <a:off x="6537960" y="2651760"/>
            <a:ext cx="4617720" cy="457200"/>
          </a:xfrm>
          <a:prstGeom prst="rect">
            <a:avLst/>
          </a:prstGeom>
          <a:noFill/>
          <a:ln/>
        </p:spPr>
        <p:txBody>
          <a:bodyPr wrap="square" lIns="0" tIns="0" rIns="0" bIns="0" rtlCol="0" anchor="ctr"/>
          <a:lstStyle/>
          <a:p>
            <a:pPr indent="0" marL="0">
              <a:buNone/>
            </a:pPr>
            <a:r>
              <a:rPr lang="en-US" sz="1800" b="1" dirty="0">
                <a:solidFill>
                  <a:srgbClr val="101110"/>
                </a:solidFill>
                <a:latin typeface="Inter" pitchFamily="34" charset="0"/>
                <a:ea typeface="Inter" pitchFamily="34" charset="-122"/>
                <a:cs typeface="Inter" pitchFamily="34" charset="-120"/>
              </a:rPr>
              <a:t>How you handle it</a:t>
            </a:r>
            <a:endParaRPr lang="en-US" sz="1800" dirty="0"/>
          </a:p>
        </p:txBody>
      </p:sp>
      <p:sp>
        <p:nvSpPr>
          <p:cNvPr id="12" name="Text 10"/>
          <p:cNvSpPr/>
          <p:nvPr/>
        </p:nvSpPr>
        <p:spPr>
          <a:xfrm>
            <a:off x="6537960" y="3246120"/>
            <a:ext cx="4617720" cy="256032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350" dirty="0">
                <a:solidFill>
                  <a:srgbClr val="3A3D38"/>
                </a:solidFill>
                <a:latin typeface="Inter" pitchFamily="34" charset="0"/>
                <a:ea typeface="Inter" pitchFamily="34" charset="-122"/>
                <a:cs typeface="Inter" pitchFamily="34" charset="-120"/>
              </a:rPr>
              <a:t>Read the error; repoint the step. Paste the error into AI to decode it</a:t>
            </a:r>
            <a:endParaRPr lang="en-US" sz="1350" dirty="0"/>
          </a:p>
          <a:p>
            <a:pPr marL="203200" indent="-203200">
              <a:lnSpc>
                <a:spcPct val="108000"/>
              </a:lnSpc>
              <a:spcAft>
                <a:spcPts val="800"/>
              </a:spcAft>
              <a:buSzPct val="100000"/>
              <a:buChar char="•"/>
            </a:pPr>
            <a:r>
              <a:rPr lang="en-US" sz="1350" dirty="0">
                <a:solidFill>
                  <a:srgbClr val="3A3D38"/>
                </a:solidFill>
                <a:latin typeface="Inter" pitchFamily="34" charset="0"/>
                <a:ea typeface="Inter" pitchFamily="34" charset="-122"/>
                <a:cs typeface="Inter" pitchFamily="34" charset="-120"/>
              </a:rPr>
              <a:t>Filter for blank category after every refresh — make it a habit</a:t>
            </a:r>
            <a:endParaRPr lang="en-US" sz="1350" dirty="0"/>
          </a:p>
          <a:p>
            <a:pPr marL="203200" indent="-203200">
              <a:lnSpc>
                <a:spcPct val="108000"/>
              </a:lnSpc>
              <a:spcAft>
                <a:spcPts val="800"/>
              </a:spcAft>
              <a:buSzPct val="100000"/>
              <a:buChar char="•"/>
            </a:pPr>
            <a:r>
              <a:rPr lang="en-US" sz="1350" dirty="0">
                <a:solidFill>
                  <a:srgbClr val="3A3D38"/>
                </a:solidFill>
                <a:latin typeface="Inter" pitchFamily="34" charset="0"/>
                <a:ea typeface="Inter" pitchFamily="34" charset="-122"/>
                <a:cs typeface="Inter" pitchFamily="34" charset="-120"/>
              </a:rPr>
              <a:t>Set the column's type with the right locale, or use Date.FromText</a:t>
            </a:r>
            <a:endParaRPr lang="en-US" sz="1350" dirty="0"/>
          </a:p>
          <a:p>
            <a:pPr marL="203200" indent="-203200">
              <a:lnSpc>
                <a:spcPct val="108000"/>
              </a:lnSpc>
              <a:spcAft>
                <a:spcPts val="800"/>
              </a:spcAft>
              <a:buSzPct val="100000"/>
              <a:buChar char="•"/>
            </a:pPr>
            <a:r>
              <a:rPr lang="en-US" sz="1350" dirty="0">
                <a:solidFill>
                  <a:srgbClr val="3A3D38"/>
                </a:solidFill>
                <a:latin typeface="Inter" pitchFamily="34" charset="0"/>
                <a:ea typeface="Inter" pitchFamily="34" charset="-122"/>
                <a:cs typeface="Inter" pitchFamily="34" charset="-120"/>
              </a:rPr>
              <a:t>Use each tool for its job: PQ for the pipeline, AI for snippets + docs</a:t>
            </a:r>
            <a:endParaRPr lang="en-US" sz="1350" dirty="0"/>
          </a:p>
        </p:txBody>
      </p:sp>
      <p:sp>
        <p:nvSpPr>
          <p:cNvPr id="13" name="Text 11"/>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8</a:t>
            </a:r>
            <a:endParaRPr lang="en-US" sz="1000" dirty="0"/>
          </a:p>
        </p:txBody>
      </p:sp>
      <p:sp>
        <p:nvSpPr>
          <p:cNvPr id="14" name="Text 12"/>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YOUR CAPSTONE</a:t>
            </a:r>
            <a:endParaRPr lang="en-US" sz="1200" dirty="0"/>
          </a:p>
        </p:txBody>
      </p:sp>
      <p:sp>
        <p:nvSpPr>
          <p:cNvPr id="6" name="Text 4"/>
          <p:cNvSpPr/>
          <p:nvPr/>
        </p:nvSpPr>
        <p:spPr>
          <a:xfrm>
            <a:off x="640080" y="123444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Build one workflow on your own data</a:t>
            </a:r>
            <a:endParaRPr lang="en-US" sz="3000" dirty="0"/>
          </a:p>
        </p:txBody>
      </p:sp>
      <p:sp>
        <p:nvSpPr>
          <p:cNvPr id="7" name="Shape 5"/>
          <p:cNvSpPr/>
          <p:nvPr/>
        </p:nvSpPr>
        <p:spPr>
          <a:xfrm>
            <a:off x="640080" y="237744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8" name="Shape 6"/>
          <p:cNvSpPr/>
          <p:nvPr/>
        </p:nvSpPr>
        <p:spPr>
          <a:xfrm>
            <a:off x="914400" y="2651760"/>
            <a:ext cx="502920" cy="502920"/>
          </a:xfrm>
          <a:prstGeom prst="roundRect">
            <a:avLst>
              <a:gd name="adj" fmla="val 23636"/>
            </a:avLst>
          </a:prstGeom>
          <a:solidFill>
            <a:srgbClr val="B1E882"/>
          </a:solidFill>
          <a:ln/>
        </p:spPr>
      </p:sp>
      <p:sp>
        <p:nvSpPr>
          <p:cNvPr id="9" name="Text 7"/>
          <p:cNvSpPr/>
          <p:nvPr/>
        </p:nvSpPr>
        <p:spPr>
          <a:xfrm>
            <a:off x="914400" y="265176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a:t>
            </a:r>
            <a:endParaRPr lang="en-US" sz="1800" dirty="0"/>
          </a:p>
        </p:txBody>
      </p:sp>
      <p:sp>
        <p:nvSpPr>
          <p:cNvPr id="10" name="Text 8"/>
          <p:cNvSpPr/>
          <p:nvPr/>
        </p:nvSpPr>
        <p:spPr>
          <a:xfrm>
            <a:off x="914400" y="329184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What to build</a:t>
            </a:r>
            <a:endParaRPr lang="en-US" sz="1550" dirty="0"/>
          </a:p>
        </p:txBody>
      </p:sp>
      <p:sp>
        <p:nvSpPr>
          <p:cNvPr id="11" name="Text 9"/>
          <p:cNvSpPr/>
          <p:nvPr/>
        </p:nvSpPr>
        <p:spPr>
          <a:xfrm>
            <a:off x="914400" y="374904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A workflow that maps to the four boxes: Connect → Clean → Enrich/Summarize → Document. On YOUR recurring data.</a:t>
            </a:r>
            <a:endParaRPr lang="en-US" sz="1200" dirty="0"/>
          </a:p>
        </p:txBody>
      </p:sp>
      <p:sp>
        <p:nvSpPr>
          <p:cNvPr id="12" name="Shape 10"/>
          <p:cNvSpPr/>
          <p:nvPr/>
        </p:nvSpPr>
        <p:spPr>
          <a:xfrm>
            <a:off x="6278728" y="237744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3" name="Shape 11"/>
          <p:cNvSpPr/>
          <p:nvPr/>
        </p:nvSpPr>
        <p:spPr>
          <a:xfrm>
            <a:off x="6553048" y="2651760"/>
            <a:ext cx="502920" cy="502920"/>
          </a:xfrm>
          <a:prstGeom prst="roundRect">
            <a:avLst>
              <a:gd name="adj" fmla="val 23636"/>
            </a:avLst>
          </a:prstGeom>
          <a:solidFill>
            <a:srgbClr val="B1E882"/>
          </a:solidFill>
          <a:ln/>
        </p:spPr>
      </p:sp>
      <p:sp>
        <p:nvSpPr>
          <p:cNvPr id="14" name="Text 12"/>
          <p:cNvSpPr/>
          <p:nvPr/>
        </p:nvSpPr>
        <p:spPr>
          <a:xfrm>
            <a:off x="6553048" y="265176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a:t>
            </a:r>
            <a:endParaRPr lang="en-US" sz="1800" dirty="0"/>
          </a:p>
        </p:txBody>
      </p:sp>
      <p:sp>
        <p:nvSpPr>
          <p:cNvPr id="15" name="Text 13"/>
          <p:cNvSpPr/>
          <p:nvPr/>
        </p:nvSpPr>
        <p:spPr>
          <a:xfrm>
            <a:off x="6553048" y="329184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Good examples</a:t>
            </a:r>
            <a:endParaRPr lang="en-US" sz="1550" dirty="0"/>
          </a:p>
        </p:txBody>
      </p:sp>
      <p:sp>
        <p:nvSpPr>
          <p:cNvPr id="16" name="Text 14"/>
          <p:cNvSpPr/>
          <p:nvPr/>
        </p:nvSpPr>
        <p:spPr>
          <a:xfrm>
            <a:off x="6553048" y="374904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A monthly reporting refresh • a repeatable data-cleaning pipeline • a summary report from raw exports.</a:t>
            </a:r>
            <a:endParaRPr lang="en-US" sz="1200" dirty="0"/>
          </a:p>
        </p:txBody>
      </p:sp>
      <p:sp>
        <p:nvSpPr>
          <p:cNvPr id="17" name="Shape 15"/>
          <p:cNvSpPr/>
          <p:nvPr/>
        </p:nvSpPr>
        <p:spPr>
          <a:xfrm>
            <a:off x="640080" y="441198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8" name="Shape 16"/>
          <p:cNvSpPr/>
          <p:nvPr/>
        </p:nvSpPr>
        <p:spPr>
          <a:xfrm>
            <a:off x="914400" y="4686300"/>
            <a:ext cx="502920" cy="502920"/>
          </a:xfrm>
          <a:prstGeom prst="roundRect">
            <a:avLst>
              <a:gd name="adj" fmla="val 23636"/>
            </a:avLst>
          </a:prstGeom>
          <a:solidFill>
            <a:srgbClr val="B1E882"/>
          </a:solidFill>
          <a:ln/>
        </p:spPr>
      </p:sp>
      <p:sp>
        <p:nvSpPr>
          <p:cNvPr id="19" name="Text 17"/>
          <p:cNvSpPr/>
          <p:nvPr/>
        </p:nvSpPr>
        <p:spPr>
          <a:xfrm>
            <a:off x="914400" y="468630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a:t>
            </a:r>
            <a:endParaRPr lang="en-US" sz="1800" dirty="0"/>
          </a:p>
        </p:txBody>
      </p:sp>
      <p:sp>
        <p:nvSpPr>
          <p:cNvPr id="20" name="Text 18"/>
          <p:cNvSpPr/>
          <p:nvPr/>
        </p:nvSpPr>
        <p:spPr>
          <a:xfrm>
            <a:off x="914400" y="532638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What 'done' means</a:t>
            </a:r>
            <a:endParaRPr lang="en-US" sz="1550" dirty="0"/>
          </a:p>
        </p:txBody>
      </p:sp>
      <p:sp>
        <p:nvSpPr>
          <p:cNvPr id="21" name="Text 19"/>
          <p:cNvSpPr/>
          <p:nvPr/>
        </p:nvSpPr>
        <p:spPr>
          <a:xfrm>
            <a:off x="914400" y="578358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It refreshes with minimal manual work, has an AI-assisted run-book, and you can explain every step.</a:t>
            </a:r>
            <a:endParaRPr lang="en-US" sz="1200" dirty="0"/>
          </a:p>
        </p:txBody>
      </p:sp>
      <p:sp>
        <p:nvSpPr>
          <p:cNvPr id="22" name="Text 20"/>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9</a:t>
            </a:r>
            <a:endParaRPr lang="en-US" sz="1000" dirty="0"/>
          </a:p>
        </p:txBody>
      </p:sp>
      <p:sp>
        <p:nvSpPr>
          <p:cNvPr id="23" name="Text 21"/>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HOW IT'S ASSESSED</a:t>
            </a:r>
            <a:endParaRPr lang="en-US" sz="1200" dirty="0"/>
          </a:p>
        </p:txBody>
      </p:sp>
      <p:sp>
        <p:nvSpPr>
          <p:cNvPr id="6" name="Text 4"/>
          <p:cNvSpPr/>
          <p:nvPr/>
        </p:nvSpPr>
        <p:spPr>
          <a:xfrm>
            <a:off x="640080" y="1234440"/>
            <a:ext cx="10607040" cy="914400"/>
          </a:xfrm>
          <a:prstGeom prst="rect">
            <a:avLst/>
          </a:prstGeom>
          <a:noFill/>
          <a:ln/>
        </p:spPr>
        <p:txBody>
          <a:bodyPr wrap="square" lIns="0" tIns="0" rIns="0" bIns="0" rtlCol="0" anchor="ctr"/>
          <a:lstStyle/>
          <a:p>
            <a:pPr indent="0" marL="0">
              <a:lnSpc>
                <a:spcPct val="100000"/>
              </a:lnSpc>
              <a:buNone/>
            </a:pPr>
            <a:r>
              <a:rPr lang="en-US" sz="3000" b="1" dirty="0">
                <a:solidFill>
                  <a:srgbClr val="101110"/>
                </a:solidFill>
                <a:latin typeface="Inter" pitchFamily="34" charset="0"/>
                <a:ea typeface="Inter" pitchFamily="34" charset="-122"/>
                <a:cs typeface="Inter" pitchFamily="34" charset="-120"/>
              </a:rPr>
              <a:t>Capstone rubric (share in Slack)</a:t>
            </a:r>
            <a:endParaRPr lang="en-US" sz="3000" dirty="0"/>
          </a:p>
        </p:txBody>
      </p:sp>
      <p:sp>
        <p:nvSpPr>
          <p:cNvPr id="7" name="Text 5"/>
          <p:cNvSpPr/>
          <p:nvPr/>
        </p:nvSpPr>
        <p:spPr>
          <a:xfrm>
            <a:off x="640080" y="2286000"/>
            <a:ext cx="10607040" cy="3840480"/>
          </a:xfrm>
          <a:prstGeom prst="rect">
            <a:avLst/>
          </a:prstGeom>
          <a:noFill/>
          <a:ln/>
        </p:spPr>
        <p:txBody>
          <a:bodyPr wrap="square" lIns="0" tIns="0" rIns="0" bIns="0" rtlCol="0" anchor="t"/>
          <a:lstStyle/>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It repeats</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Refreshing (or re-running) takes minimal manual work. The 'connect, don't paste' habit is visible.</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AI was used well</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AI helped draft formulas/steps/docs — and you show where you checked or corrected it.</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It's documented</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A short run-book (AI-drafted, human-edited) explains how to run it and what to verify.</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You understand it</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You can explain each step and name where human judgment is still required.</a:t>
            </a:r>
            <a:endParaRPr lang="en-US" sz="1600" dirty="0"/>
          </a:p>
        </p:txBody>
      </p:sp>
      <p:sp>
        <p:nvSpPr>
          <p:cNvPr id="8" name="Text 6"/>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10</a:t>
            </a:r>
            <a:endParaRPr lang="en-US" sz="1000" dirty="0"/>
          </a:p>
        </p:txBody>
      </p:sp>
      <p:sp>
        <p:nvSpPr>
          <p:cNvPr id="9" name="Text 7"/>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1001268"/>
            <a:ext cx="146304" cy="146304"/>
          </a:xfrm>
          <a:prstGeom prst="roundRect">
            <a:avLst>
              <a:gd name="adj" fmla="val 25000"/>
            </a:avLst>
          </a:prstGeom>
          <a:solidFill>
            <a:srgbClr val="B1E882"/>
          </a:solidFill>
          <a:ln/>
        </p:spPr>
      </p:sp>
      <p:sp>
        <p:nvSpPr>
          <p:cNvPr id="5" name="Text 3"/>
          <p:cNvSpPr/>
          <p:nvPr/>
        </p:nvSpPr>
        <p:spPr>
          <a:xfrm>
            <a:off x="877824" y="96012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KEY TAKEAWAYS</a:t>
            </a:r>
            <a:endParaRPr lang="en-US" sz="1200" dirty="0"/>
          </a:p>
        </p:txBody>
      </p:sp>
      <p:sp>
        <p:nvSpPr>
          <p:cNvPr id="6" name="Text 4"/>
          <p:cNvSpPr/>
          <p:nvPr/>
        </p:nvSpPr>
        <p:spPr>
          <a:xfrm>
            <a:off x="640080" y="128016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What to remember from the whole course</a:t>
            </a:r>
            <a:endParaRPr lang="en-US" sz="3000" dirty="0"/>
          </a:p>
        </p:txBody>
      </p:sp>
      <p:sp>
        <p:nvSpPr>
          <p:cNvPr id="7" name="Shape 5"/>
          <p:cNvSpPr/>
          <p:nvPr/>
        </p:nvSpPr>
        <p:spPr>
          <a:xfrm>
            <a:off x="640080" y="2505456"/>
            <a:ext cx="384048" cy="384048"/>
          </a:xfrm>
          <a:prstGeom prst="roundRect">
            <a:avLst>
              <a:gd name="adj" fmla="val 23810"/>
            </a:avLst>
          </a:prstGeom>
          <a:solidFill>
            <a:srgbClr val="B1E882"/>
          </a:solidFill>
          <a:ln/>
        </p:spPr>
      </p:sp>
      <p:sp>
        <p:nvSpPr>
          <p:cNvPr id="8" name="Text 6"/>
          <p:cNvSpPr/>
          <p:nvPr/>
        </p:nvSpPr>
        <p:spPr>
          <a:xfrm>
            <a:off x="640080" y="2487168"/>
            <a:ext cx="384048" cy="384048"/>
          </a:xfrm>
          <a:prstGeom prst="rect">
            <a:avLst/>
          </a:prstGeom>
          <a:noFill/>
          <a:ln/>
        </p:spPr>
        <p:txBody>
          <a:bodyPr wrap="square" lIns="0" tIns="0" rIns="0" bIns="0" rtlCol="0" anchor="ctr"/>
          <a:lstStyle/>
          <a:p>
            <a:pPr algn="ctr" indent="0" marL="0">
              <a:buNone/>
            </a:pPr>
            <a:r>
              <a:rPr lang="en-US" sz="1600" b="1" dirty="0">
                <a:solidFill>
                  <a:srgbClr val="101110"/>
                </a:solidFill>
                <a:latin typeface="Inter" pitchFamily="34" charset="0"/>
                <a:ea typeface="Inter" pitchFamily="34" charset="-122"/>
                <a:cs typeface="Inter" pitchFamily="34" charset="-120"/>
              </a:rPr>
              <a:t>✓</a:t>
            </a:r>
            <a:endParaRPr lang="en-US" sz="1600" dirty="0"/>
          </a:p>
        </p:txBody>
      </p:sp>
      <p:sp>
        <p:nvSpPr>
          <p:cNvPr id="9" name="Text 7"/>
          <p:cNvSpPr/>
          <p:nvPr/>
        </p:nvSpPr>
        <p:spPr>
          <a:xfrm>
            <a:off x="1234440" y="2423160"/>
            <a:ext cx="10058400" cy="891540"/>
          </a:xfrm>
          <a:prstGeom prst="rect">
            <a:avLst/>
          </a:prstGeom>
          <a:noFill/>
          <a:ln/>
        </p:spPr>
        <p:txBody>
          <a:bodyPr wrap="square" lIns="0" tIns="0" rIns="0" bIns="0" rtlCol="0" anchor="t"/>
          <a:lstStyle/>
          <a:p>
            <a:pPr indent="0" marL="0">
              <a:lnSpc>
                <a:spcPct val="110000"/>
              </a:lnSpc>
              <a:buNone/>
            </a:pPr>
            <a:r>
              <a:rPr lang="en-US" sz="1600" dirty="0">
                <a:solidFill>
                  <a:srgbClr val="101110"/>
                </a:solidFill>
                <a:latin typeface="Inter" pitchFamily="34" charset="0"/>
                <a:ea typeface="Inter" pitchFamily="34" charset="-122"/>
                <a:cs typeface="Inter" pitchFamily="34" charset="-120"/>
              </a:rPr>
              <a:t>Connect, don't paste — a refreshable connection is the foundation of every workflow.</a:t>
            </a:r>
            <a:endParaRPr lang="en-US" sz="1600" dirty="0"/>
          </a:p>
        </p:txBody>
      </p:sp>
      <p:sp>
        <p:nvSpPr>
          <p:cNvPr id="10" name="Shape 8"/>
          <p:cNvSpPr/>
          <p:nvPr/>
        </p:nvSpPr>
        <p:spPr>
          <a:xfrm>
            <a:off x="640080" y="3396996"/>
            <a:ext cx="384048" cy="384048"/>
          </a:xfrm>
          <a:prstGeom prst="roundRect">
            <a:avLst>
              <a:gd name="adj" fmla="val 23810"/>
            </a:avLst>
          </a:prstGeom>
          <a:solidFill>
            <a:srgbClr val="B1E882"/>
          </a:solidFill>
          <a:ln/>
        </p:spPr>
      </p:sp>
      <p:sp>
        <p:nvSpPr>
          <p:cNvPr id="11" name="Text 9"/>
          <p:cNvSpPr/>
          <p:nvPr/>
        </p:nvSpPr>
        <p:spPr>
          <a:xfrm>
            <a:off x="640080" y="3378708"/>
            <a:ext cx="384048" cy="384048"/>
          </a:xfrm>
          <a:prstGeom prst="rect">
            <a:avLst/>
          </a:prstGeom>
          <a:noFill/>
          <a:ln/>
        </p:spPr>
        <p:txBody>
          <a:bodyPr wrap="square" lIns="0" tIns="0" rIns="0" bIns="0" rtlCol="0" anchor="ctr"/>
          <a:lstStyle/>
          <a:p>
            <a:pPr algn="ctr" indent="0" marL="0">
              <a:buNone/>
            </a:pPr>
            <a:r>
              <a:rPr lang="en-US" sz="1600" b="1" dirty="0">
                <a:solidFill>
                  <a:srgbClr val="101110"/>
                </a:solidFill>
                <a:latin typeface="Inter" pitchFamily="34" charset="0"/>
                <a:ea typeface="Inter" pitchFamily="34" charset="-122"/>
                <a:cs typeface="Inter" pitchFamily="34" charset="-120"/>
              </a:rPr>
              <a:t>✓</a:t>
            </a:r>
            <a:endParaRPr lang="en-US" sz="1600" dirty="0"/>
          </a:p>
        </p:txBody>
      </p:sp>
      <p:sp>
        <p:nvSpPr>
          <p:cNvPr id="12" name="Text 10"/>
          <p:cNvSpPr/>
          <p:nvPr/>
        </p:nvSpPr>
        <p:spPr>
          <a:xfrm>
            <a:off x="1234440" y="3314700"/>
            <a:ext cx="10058400" cy="891540"/>
          </a:xfrm>
          <a:prstGeom prst="rect">
            <a:avLst/>
          </a:prstGeom>
          <a:noFill/>
          <a:ln/>
        </p:spPr>
        <p:txBody>
          <a:bodyPr wrap="square" lIns="0" tIns="0" rIns="0" bIns="0" rtlCol="0" anchor="t"/>
          <a:lstStyle/>
          <a:p>
            <a:pPr indent="0" marL="0">
              <a:lnSpc>
                <a:spcPct val="110000"/>
              </a:lnSpc>
              <a:buNone/>
            </a:pPr>
            <a:r>
              <a:rPr lang="en-US" sz="1600" dirty="0">
                <a:solidFill>
                  <a:srgbClr val="101110"/>
                </a:solidFill>
                <a:latin typeface="Inter" pitchFamily="34" charset="0"/>
                <a:ea typeface="Inter" pitchFamily="34" charset="-122"/>
                <a:cs typeface="Inter" pitchFamily="34" charset="-120"/>
              </a:rPr>
              <a:t>Four boxes: Connect → Clean → Enrich/Summarize → Document. Every project fits this shape.</a:t>
            </a:r>
            <a:endParaRPr lang="en-US" sz="1600" dirty="0"/>
          </a:p>
        </p:txBody>
      </p:sp>
      <p:sp>
        <p:nvSpPr>
          <p:cNvPr id="13" name="Shape 11"/>
          <p:cNvSpPr/>
          <p:nvPr/>
        </p:nvSpPr>
        <p:spPr>
          <a:xfrm>
            <a:off x="640080" y="4288536"/>
            <a:ext cx="384048" cy="384048"/>
          </a:xfrm>
          <a:prstGeom prst="roundRect">
            <a:avLst>
              <a:gd name="adj" fmla="val 23810"/>
            </a:avLst>
          </a:prstGeom>
          <a:solidFill>
            <a:srgbClr val="B1E882"/>
          </a:solidFill>
          <a:ln/>
        </p:spPr>
      </p:sp>
      <p:sp>
        <p:nvSpPr>
          <p:cNvPr id="14" name="Text 12"/>
          <p:cNvSpPr/>
          <p:nvPr/>
        </p:nvSpPr>
        <p:spPr>
          <a:xfrm>
            <a:off x="640080" y="4270248"/>
            <a:ext cx="384048" cy="384048"/>
          </a:xfrm>
          <a:prstGeom prst="rect">
            <a:avLst/>
          </a:prstGeom>
          <a:noFill/>
          <a:ln/>
        </p:spPr>
        <p:txBody>
          <a:bodyPr wrap="square" lIns="0" tIns="0" rIns="0" bIns="0" rtlCol="0" anchor="ctr"/>
          <a:lstStyle/>
          <a:p>
            <a:pPr algn="ctr" indent="0" marL="0">
              <a:buNone/>
            </a:pPr>
            <a:r>
              <a:rPr lang="en-US" sz="1600" b="1" dirty="0">
                <a:solidFill>
                  <a:srgbClr val="101110"/>
                </a:solidFill>
                <a:latin typeface="Inter" pitchFamily="34" charset="0"/>
                <a:ea typeface="Inter" pitchFamily="34" charset="-122"/>
                <a:cs typeface="Inter" pitchFamily="34" charset="-120"/>
              </a:rPr>
              <a:t>✓</a:t>
            </a:r>
            <a:endParaRPr lang="en-US" sz="1600" dirty="0"/>
          </a:p>
        </p:txBody>
      </p:sp>
      <p:sp>
        <p:nvSpPr>
          <p:cNvPr id="15" name="Text 13"/>
          <p:cNvSpPr/>
          <p:nvPr/>
        </p:nvSpPr>
        <p:spPr>
          <a:xfrm>
            <a:off x="1234440" y="4206240"/>
            <a:ext cx="10058400" cy="891540"/>
          </a:xfrm>
          <a:prstGeom prst="rect">
            <a:avLst/>
          </a:prstGeom>
          <a:noFill/>
          <a:ln/>
        </p:spPr>
        <p:txBody>
          <a:bodyPr wrap="square" lIns="0" tIns="0" rIns="0" bIns="0" rtlCol="0" anchor="t"/>
          <a:lstStyle/>
          <a:p>
            <a:pPr indent="0" marL="0">
              <a:lnSpc>
                <a:spcPct val="110000"/>
              </a:lnSpc>
              <a:buNone/>
            </a:pPr>
            <a:r>
              <a:rPr lang="en-US" sz="1600" dirty="0">
                <a:solidFill>
                  <a:srgbClr val="101110"/>
                </a:solidFill>
                <a:latin typeface="Inter" pitchFamily="34" charset="0"/>
                <a:ea typeface="Inter" pitchFamily="34" charset="-122"/>
                <a:cs typeface="Inter" pitchFamily="34" charset="-120"/>
              </a:rPr>
              <a:t>AI drafts; you verify and own. That's true for formulas, Python, and run-books alike.</a:t>
            </a:r>
            <a:endParaRPr lang="en-US" sz="1600" dirty="0"/>
          </a:p>
        </p:txBody>
      </p:sp>
      <p:sp>
        <p:nvSpPr>
          <p:cNvPr id="16" name="Shape 14"/>
          <p:cNvSpPr/>
          <p:nvPr/>
        </p:nvSpPr>
        <p:spPr>
          <a:xfrm>
            <a:off x="640080" y="5180076"/>
            <a:ext cx="384048" cy="384048"/>
          </a:xfrm>
          <a:prstGeom prst="roundRect">
            <a:avLst>
              <a:gd name="adj" fmla="val 23810"/>
            </a:avLst>
          </a:prstGeom>
          <a:solidFill>
            <a:srgbClr val="B1E882"/>
          </a:solidFill>
          <a:ln/>
        </p:spPr>
      </p:sp>
      <p:sp>
        <p:nvSpPr>
          <p:cNvPr id="17" name="Text 15"/>
          <p:cNvSpPr/>
          <p:nvPr/>
        </p:nvSpPr>
        <p:spPr>
          <a:xfrm>
            <a:off x="640080" y="5161788"/>
            <a:ext cx="384048" cy="384048"/>
          </a:xfrm>
          <a:prstGeom prst="rect">
            <a:avLst/>
          </a:prstGeom>
          <a:noFill/>
          <a:ln/>
        </p:spPr>
        <p:txBody>
          <a:bodyPr wrap="square" lIns="0" tIns="0" rIns="0" bIns="0" rtlCol="0" anchor="ctr"/>
          <a:lstStyle/>
          <a:p>
            <a:pPr algn="ctr" indent="0" marL="0">
              <a:buNone/>
            </a:pPr>
            <a:r>
              <a:rPr lang="en-US" sz="1600" b="1" dirty="0">
                <a:solidFill>
                  <a:srgbClr val="101110"/>
                </a:solidFill>
                <a:latin typeface="Inter" pitchFamily="34" charset="0"/>
                <a:ea typeface="Inter" pitchFamily="34" charset="-122"/>
                <a:cs typeface="Inter" pitchFamily="34" charset="-120"/>
              </a:rPr>
              <a:t>✓</a:t>
            </a:r>
            <a:endParaRPr lang="en-US" sz="1600" dirty="0"/>
          </a:p>
        </p:txBody>
      </p:sp>
      <p:sp>
        <p:nvSpPr>
          <p:cNvPr id="18" name="Text 16"/>
          <p:cNvSpPr/>
          <p:nvPr/>
        </p:nvSpPr>
        <p:spPr>
          <a:xfrm>
            <a:off x="1234440" y="5097780"/>
            <a:ext cx="10058400" cy="891540"/>
          </a:xfrm>
          <a:prstGeom prst="rect">
            <a:avLst/>
          </a:prstGeom>
          <a:noFill/>
          <a:ln/>
        </p:spPr>
        <p:txBody>
          <a:bodyPr wrap="square" lIns="0" tIns="0" rIns="0" bIns="0" rtlCol="0" anchor="t"/>
          <a:lstStyle/>
          <a:p>
            <a:pPr indent="0" marL="0">
              <a:lnSpc>
                <a:spcPct val="110000"/>
              </a:lnSpc>
              <a:buNone/>
            </a:pPr>
            <a:r>
              <a:rPr lang="en-US" sz="1600" dirty="0">
                <a:solidFill>
                  <a:srgbClr val="101110"/>
                </a:solidFill>
                <a:latin typeface="Inter" pitchFamily="34" charset="0"/>
                <a:ea typeface="Inter" pitchFamily="34" charset="-122"/>
                <a:cs typeface="Inter" pitchFamily="34" charset="-120"/>
              </a:rPr>
              <a:t>Pick the tool for the job — and keep sensitive data out of public AI tools.</a:t>
            </a:r>
            <a:endParaRPr lang="en-US" sz="1600" dirty="0"/>
          </a:p>
        </p:txBody>
      </p:sp>
      <p:sp>
        <p:nvSpPr>
          <p:cNvPr id="19" name="Text 17"/>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11</a:t>
            </a:r>
            <a:endParaRPr lang="en-US" sz="1000" dirty="0"/>
          </a:p>
        </p:txBody>
      </p:sp>
      <p:sp>
        <p:nvSpPr>
          <p:cNvPr id="20" name="Text 18"/>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1001268"/>
            <a:ext cx="146304" cy="146304"/>
          </a:xfrm>
          <a:prstGeom prst="roundRect">
            <a:avLst>
              <a:gd name="adj" fmla="val 25000"/>
            </a:avLst>
          </a:prstGeom>
          <a:solidFill>
            <a:srgbClr val="B1E882"/>
          </a:solidFill>
          <a:ln/>
        </p:spPr>
      </p:sp>
      <p:sp>
        <p:nvSpPr>
          <p:cNvPr id="5" name="Text 3"/>
          <p:cNvSpPr/>
          <p:nvPr/>
        </p:nvSpPr>
        <p:spPr>
          <a:xfrm>
            <a:off x="877824" y="96012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BEFORE NEXT SESSION</a:t>
            </a:r>
            <a:endParaRPr lang="en-US" sz="1200" dirty="0"/>
          </a:p>
        </p:txBody>
      </p:sp>
      <p:sp>
        <p:nvSpPr>
          <p:cNvPr id="6" name="Text 4"/>
          <p:cNvSpPr/>
          <p:nvPr/>
        </p:nvSpPr>
        <p:spPr>
          <a:xfrm>
            <a:off x="640080" y="1280160"/>
            <a:ext cx="10607040" cy="73152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Finish &amp; ship your capstone</a:t>
            </a:r>
            <a:endParaRPr lang="en-US" sz="3000" dirty="0"/>
          </a:p>
        </p:txBody>
      </p:sp>
      <p:sp>
        <p:nvSpPr>
          <p:cNvPr id="7" name="Text 5"/>
          <p:cNvSpPr/>
          <p:nvPr/>
        </p:nvSpPr>
        <p:spPr>
          <a:xfrm>
            <a:off x="640080" y="2011680"/>
            <a:ext cx="10424160" cy="640080"/>
          </a:xfrm>
          <a:prstGeom prst="rect">
            <a:avLst/>
          </a:prstGeom>
          <a:noFill/>
          <a:ln/>
        </p:spPr>
        <p:txBody>
          <a:bodyPr wrap="square" lIns="0" tIns="0" rIns="0" bIns="0" rtlCol="0" anchor="ctr"/>
          <a:lstStyle/>
          <a:p>
            <a:pPr indent="0" marL="0">
              <a:lnSpc>
                <a:spcPct val="115000"/>
              </a:lnSpc>
              <a:buNone/>
            </a:pPr>
            <a:r>
              <a:rPr lang="en-US" sz="1450" dirty="0">
                <a:solidFill>
                  <a:srgbClr val="6B6F6B"/>
                </a:solidFill>
                <a:latin typeface="Inter" pitchFamily="34" charset="0"/>
                <a:ea typeface="Inter" pitchFamily="34" charset="-122"/>
                <a:cs typeface="Inter" pitchFamily="34" charset="-120"/>
              </a:rPr>
              <a:t>Complete your workflow and share it in Slack. This is the deliverable that outlasts the course.</a:t>
            </a:r>
            <a:endParaRPr lang="en-US" sz="1450" dirty="0"/>
          </a:p>
        </p:txBody>
      </p:sp>
      <p:sp>
        <p:nvSpPr>
          <p:cNvPr id="8" name="Shape 6"/>
          <p:cNvSpPr/>
          <p:nvPr/>
        </p:nvSpPr>
        <p:spPr>
          <a:xfrm>
            <a:off x="640080" y="2880360"/>
            <a:ext cx="3393338" cy="3108960"/>
          </a:xfrm>
          <a:prstGeom prst="roundRect">
            <a:avLst>
              <a:gd name="adj" fmla="val 4118"/>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9" name="Shape 7"/>
          <p:cNvSpPr/>
          <p:nvPr/>
        </p:nvSpPr>
        <p:spPr>
          <a:xfrm>
            <a:off x="914400" y="3154680"/>
            <a:ext cx="457200" cy="457200"/>
          </a:xfrm>
          <a:prstGeom prst="ellipse">
            <a:avLst/>
          </a:prstGeom>
          <a:solidFill>
            <a:srgbClr val="101110"/>
          </a:solidFill>
          <a:ln/>
        </p:spPr>
      </p:sp>
      <p:sp>
        <p:nvSpPr>
          <p:cNvPr id="10" name="Text 8"/>
          <p:cNvSpPr/>
          <p:nvPr/>
        </p:nvSpPr>
        <p:spPr>
          <a:xfrm>
            <a:off x="914400" y="3154680"/>
            <a:ext cx="457200" cy="457200"/>
          </a:xfrm>
          <a:prstGeom prst="rect">
            <a:avLst/>
          </a:prstGeom>
          <a:noFill/>
          <a:ln/>
        </p:spPr>
        <p:txBody>
          <a:bodyPr wrap="square" lIns="0" tIns="0" rIns="0" bIns="0" rtlCol="0" anchor="ctr"/>
          <a:lstStyle/>
          <a:p>
            <a:pPr algn="ctr" indent="0" marL="0">
              <a:buNone/>
            </a:pPr>
            <a:r>
              <a:rPr lang="en-US" sz="1600" b="1" dirty="0">
                <a:solidFill>
                  <a:srgbClr val="B1E882"/>
                </a:solidFill>
                <a:latin typeface="Inter" pitchFamily="34" charset="0"/>
                <a:ea typeface="Inter" pitchFamily="34" charset="-122"/>
                <a:cs typeface="Inter" pitchFamily="34" charset="-120"/>
              </a:rPr>
              <a:t>1</a:t>
            </a:r>
            <a:endParaRPr lang="en-US" sz="1600" dirty="0"/>
          </a:p>
        </p:txBody>
      </p:sp>
      <p:sp>
        <p:nvSpPr>
          <p:cNvPr id="11" name="Text 9"/>
          <p:cNvSpPr/>
          <p:nvPr/>
        </p:nvSpPr>
        <p:spPr>
          <a:xfrm>
            <a:off x="914400" y="3794760"/>
            <a:ext cx="2844698" cy="548640"/>
          </a:xfrm>
          <a:prstGeom prst="rect">
            <a:avLst/>
          </a:prstGeom>
          <a:noFill/>
          <a:ln/>
        </p:spPr>
        <p:txBody>
          <a:bodyPr wrap="square" lIns="0" tIns="0" rIns="0" bIns="0" rtlCol="0" anchor="ctr"/>
          <a:lstStyle/>
          <a:p>
            <a:pPr indent="0" marL="0">
              <a:buNone/>
            </a:pPr>
            <a:r>
              <a:rPr lang="en-US" sz="1500" b="1" dirty="0">
                <a:solidFill>
                  <a:srgbClr val="101110"/>
                </a:solidFill>
                <a:latin typeface="Inter" pitchFamily="34" charset="0"/>
                <a:ea typeface="Inter" pitchFamily="34" charset="-122"/>
                <a:cs typeface="Inter" pitchFamily="34" charset="-120"/>
              </a:rPr>
              <a:t>Finish the workflow</a:t>
            </a:r>
            <a:endParaRPr lang="en-US" sz="1500" dirty="0"/>
          </a:p>
        </p:txBody>
      </p:sp>
      <p:sp>
        <p:nvSpPr>
          <p:cNvPr id="12" name="Text 10"/>
          <p:cNvSpPr/>
          <p:nvPr/>
        </p:nvSpPr>
        <p:spPr>
          <a:xfrm>
            <a:off x="914400" y="4343400"/>
            <a:ext cx="2844698" cy="1463040"/>
          </a:xfrm>
          <a:prstGeom prst="rect">
            <a:avLst/>
          </a:prstGeom>
          <a:noFill/>
          <a:ln/>
        </p:spPr>
        <p:txBody>
          <a:bodyPr wrap="square" lIns="0" tIns="0" rIns="0" bIns="0" rtlCol="0" anchor="t"/>
          <a:lstStyle/>
          <a:p>
            <a:pPr indent="0" marL="0">
              <a:lnSpc>
                <a:spcPct val="118000"/>
              </a:lnSpc>
              <a:buNone/>
            </a:pPr>
            <a:r>
              <a:rPr lang="en-US" sz="1200" dirty="0">
                <a:solidFill>
                  <a:srgbClr val="3A3D38"/>
                </a:solidFill>
                <a:latin typeface="Inter" pitchFamily="34" charset="0"/>
                <a:ea typeface="Inter" pitchFamily="34" charset="-122"/>
                <a:cs typeface="Inter" pitchFamily="34" charset="-120"/>
              </a:rPr>
              <a:t>Get it to refresh/re-run with minimal manual work on your own (anonymized) data.</a:t>
            </a:r>
            <a:endParaRPr lang="en-US" sz="1200" dirty="0"/>
          </a:p>
        </p:txBody>
      </p:sp>
      <p:sp>
        <p:nvSpPr>
          <p:cNvPr id="13" name="Shape 11"/>
          <p:cNvSpPr/>
          <p:nvPr/>
        </p:nvSpPr>
        <p:spPr>
          <a:xfrm>
            <a:off x="4399178" y="2880360"/>
            <a:ext cx="3393338" cy="3108960"/>
          </a:xfrm>
          <a:prstGeom prst="roundRect">
            <a:avLst>
              <a:gd name="adj" fmla="val 4118"/>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4" name="Shape 12"/>
          <p:cNvSpPr/>
          <p:nvPr/>
        </p:nvSpPr>
        <p:spPr>
          <a:xfrm>
            <a:off x="4673498" y="3154680"/>
            <a:ext cx="457200" cy="457200"/>
          </a:xfrm>
          <a:prstGeom prst="ellipse">
            <a:avLst/>
          </a:prstGeom>
          <a:solidFill>
            <a:srgbClr val="101110"/>
          </a:solidFill>
          <a:ln/>
        </p:spPr>
      </p:sp>
      <p:sp>
        <p:nvSpPr>
          <p:cNvPr id="15" name="Text 13"/>
          <p:cNvSpPr/>
          <p:nvPr/>
        </p:nvSpPr>
        <p:spPr>
          <a:xfrm>
            <a:off x="4673498" y="3154680"/>
            <a:ext cx="457200" cy="457200"/>
          </a:xfrm>
          <a:prstGeom prst="rect">
            <a:avLst/>
          </a:prstGeom>
          <a:noFill/>
          <a:ln/>
        </p:spPr>
        <p:txBody>
          <a:bodyPr wrap="square" lIns="0" tIns="0" rIns="0" bIns="0" rtlCol="0" anchor="ctr"/>
          <a:lstStyle/>
          <a:p>
            <a:pPr algn="ctr" indent="0" marL="0">
              <a:buNone/>
            </a:pPr>
            <a:r>
              <a:rPr lang="en-US" sz="1600" b="1" dirty="0">
                <a:solidFill>
                  <a:srgbClr val="B1E882"/>
                </a:solidFill>
                <a:latin typeface="Inter" pitchFamily="34" charset="0"/>
                <a:ea typeface="Inter" pitchFamily="34" charset="-122"/>
                <a:cs typeface="Inter" pitchFamily="34" charset="-120"/>
              </a:rPr>
              <a:t>2</a:t>
            </a:r>
            <a:endParaRPr lang="en-US" sz="1600" dirty="0"/>
          </a:p>
        </p:txBody>
      </p:sp>
      <p:sp>
        <p:nvSpPr>
          <p:cNvPr id="16" name="Text 14"/>
          <p:cNvSpPr/>
          <p:nvPr/>
        </p:nvSpPr>
        <p:spPr>
          <a:xfrm>
            <a:off x="4673498" y="3794760"/>
            <a:ext cx="2844698" cy="548640"/>
          </a:xfrm>
          <a:prstGeom prst="rect">
            <a:avLst/>
          </a:prstGeom>
          <a:noFill/>
          <a:ln/>
        </p:spPr>
        <p:txBody>
          <a:bodyPr wrap="square" lIns="0" tIns="0" rIns="0" bIns="0" rtlCol="0" anchor="ctr"/>
          <a:lstStyle/>
          <a:p>
            <a:pPr indent="0" marL="0">
              <a:buNone/>
            </a:pPr>
            <a:r>
              <a:rPr lang="en-US" sz="1500" b="1" dirty="0">
                <a:solidFill>
                  <a:srgbClr val="101110"/>
                </a:solidFill>
                <a:latin typeface="Inter" pitchFamily="34" charset="0"/>
                <a:ea typeface="Inter" pitchFamily="34" charset="-122"/>
                <a:cs typeface="Inter" pitchFamily="34" charset="-120"/>
              </a:rPr>
              <a:t>Write the run-book</a:t>
            </a:r>
            <a:endParaRPr lang="en-US" sz="1500" dirty="0"/>
          </a:p>
        </p:txBody>
      </p:sp>
      <p:sp>
        <p:nvSpPr>
          <p:cNvPr id="17" name="Text 15"/>
          <p:cNvSpPr/>
          <p:nvPr/>
        </p:nvSpPr>
        <p:spPr>
          <a:xfrm>
            <a:off x="4673498" y="4343400"/>
            <a:ext cx="2844698" cy="1463040"/>
          </a:xfrm>
          <a:prstGeom prst="rect">
            <a:avLst/>
          </a:prstGeom>
          <a:noFill/>
          <a:ln/>
        </p:spPr>
        <p:txBody>
          <a:bodyPr wrap="square" lIns="0" tIns="0" rIns="0" bIns="0" rtlCol="0" anchor="t"/>
          <a:lstStyle/>
          <a:p>
            <a:pPr indent="0" marL="0">
              <a:lnSpc>
                <a:spcPct val="118000"/>
              </a:lnSpc>
              <a:buNone/>
            </a:pPr>
            <a:r>
              <a:rPr lang="en-US" sz="1200" dirty="0">
                <a:solidFill>
                  <a:srgbClr val="3A3D38"/>
                </a:solidFill>
                <a:latin typeface="Inter" pitchFamily="34" charset="0"/>
                <a:ea typeface="Inter" pitchFamily="34" charset="-122"/>
                <a:cs typeface="Inter" pitchFamily="34" charset="-120"/>
              </a:rPr>
              <a:t>AI-drafted, human-edited. Drop it in a README tab so someone else could run it.</a:t>
            </a:r>
            <a:endParaRPr lang="en-US" sz="1200" dirty="0"/>
          </a:p>
        </p:txBody>
      </p:sp>
      <p:sp>
        <p:nvSpPr>
          <p:cNvPr id="18" name="Shape 16"/>
          <p:cNvSpPr/>
          <p:nvPr/>
        </p:nvSpPr>
        <p:spPr>
          <a:xfrm>
            <a:off x="8158277" y="2880360"/>
            <a:ext cx="3393338" cy="3108960"/>
          </a:xfrm>
          <a:prstGeom prst="roundRect">
            <a:avLst>
              <a:gd name="adj" fmla="val 4118"/>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9" name="Shape 17"/>
          <p:cNvSpPr/>
          <p:nvPr/>
        </p:nvSpPr>
        <p:spPr>
          <a:xfrm>
            <a:off x="8432597" y="3154680"/>
            <a:ext cx="457200" cy="457200"/>
          </a:xfrm>
          <a:prstGeom prst="ellipse">
            <a:avLst/>
          </a:prstGeom>
          <a:solidFill>
            <a:srgbClr val="101110"/>
          </a:solidFill>
          <a:ln/>
        </p:spPr>
      </p:sp>
      <p:sp>
        <p:nvSpPr>
          <p:cNvPr id="20" name="Text 18"/>
          <p:cNvSpPr/>
          <p:nvPr/>
        </p:nvSpPr>
        <p:spPr>
          <a:xfrm>
            <a:off x="8432597" y="3154680"/>
            <a:ext cx="457200" cy="457200"/>
          </a:xfrm>
          <a:prstGeom prst="rect">
            <a:avLst/>
          </a:prstGeom>
          <a:noFill/>
          <a:ln/>
        </p:spPr>
        <p:txBody>
          <a:bodyPr wrap="square" lIns="0" tIns="0" rIns="0" bIns="0" rtlCol="0" anchor="ctr"/>
          <a:lstStyle/>
          <a:p>
            <a:pPr algn="ctr" indent="0" marL="0">
              <a:buNone/>
            </a:pPr>
            <a:r>
              <a:rPr lang="en-US" sz="1600" b="1" dirty="0">
                <a:solidFill>
                  <a:srgbClr val="B1E882"/>
                </a:solidFill>
                <a:latin typeface="Inter" pitchFamily="34" charset="0"/>
                <a:ea typeface="Inter" pitchFamily="34" charset="-122"/>
                <a:cs typeface="Inter" pitchFamily="34" charset="-120"/>
              </a:rPr>
              <a:t>3</a:t>
            </a:r>
            <a:endParaRPr lang="en-US" sz="1600" dirty="0"/>
          </a:p>
        </p:txBody>
      </p:sp>
      <p:sp>
        <p:nvSpPr>
          <p:cNvPr id="21" name="Text 19"/>
          <p:cNvSpPr/>
          <p:nvPr/>
        </p:nvSpPr>
        <p:spPr>
          <a:xfrm>
            <a:off x="8432597" y="3794760"/>
            <a:ext cx="2844698" cy="548640"/>
          </a:xfrm>
          <a:prstGeom prst="rect">
            <a:avLst/>
          </a:prstGeom>
          <a:noFill/>
          <a:ln/>
        </p:spPr>
        <p:txBody>
          <a:bodyPr wrap="square" lIns="0" tIns="0" rIns="0" bIns="0" rtlCol="0" anchor="ctr"/>
          <a:lstStyle/>
          <a:p>
            <a:pPr indent="0" marL="0">
              <a:buNone/>
            </a:pPr>
            <a:r>
              <a:rPr lang="en-US" sz="1500" b="1" dirty="0">
                <a:solidFill>
                  <a:srgbClr val="101110"/>
                </a:solidFill>
                <a:latin typeface="Inter" pitchFamily="34" charset="0"/>
                <a:ea typeface="Inter" pitchFamily="34" charset="-122"/>
                <a:cs typeface="Inter" pitchFamily="34" charset="-120"/>
              </a:rPr>
              <a:t>Share &amp; reflect</a:t>
            </a:r>
            <a:endParaRPr lang="en-US" sz="1500" dirty="0"/>
          </a:p>
        </p:txBody>
      </p:sp>
      <p:sp>
        <p:nvSpPr>
          <p:cNvPr id="22" name="Text 20"/>
          <p:cNvSpPr/>
          <p:nvPr/>
        </p:nvSpPr>
        <p:spPr>
          <a:xfrm>
            <a:off x="8432597" y="4343400"/>
            <a:ext cx="2844698" cy="1463040"/>
          </a:xfrm>
          <a:prstGeom prst="rect">
            <a:avLst/>
          </a:prstGeom>
          <a:noFill/>
          <a:ln/>
        </p:spPr>
        <p:txBody>
          <a:bodyPr wrap="square" lIns="0" tIns="0" rIns="0" bIns="0" rtlCol="0" anchor="t"/>
          <a:lstStyle/>
          <a:p>
            <a:pPr indent="0" marL="0">
              <a:lnSpc>
                <a:spcPct val="118000"/>
              </a:lnSpc>
              <a:buNone/>
            </a:pPr>
            <a:r>
              <a:rPr lang="en-US" sz="1200" dirty="0">
                <a:solidFill>
                  <a:srgbClr val="3A3D38"/>
                </a:solidFill>
                <a:latin typeface="Inter" pitchFamily="34" charset="0"/>
                <a:ea typeface="Inter" pitchFamily="34" charset="-122"/>
                <a:cs typeface="Inter" pitchFamily="34" charset="-120"/>
              </a:rPr>
              <a:t>Post your capstone + one sentence on where you still review the AI's output by hand.</a:t>
            </a:r>
            <a:endParaRPr lang="en-US" sz="1200" dirty="0"/>
          </a:p>
        </p:txBody>
      </p:sp>
      <p:sp>
        <p:nvSpPr>
          <p:cNvPr id="23" name="Text 21"/>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12</a:t>
            </a:r>
            <a:endParaRPr lang="en-US" sz="1000" dirty="0"/>
          </a:p>
        </p:txBody>
      </p:sp>
      <p:sp>
        <p:nvSpPr>
          <p:cNvPr id="24" name="Text 22"/>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Text 2"/>
          <p:cNvSpPr/>
          <p:nvPr/>
        </p:nvSpPr>
        <p:spPr>
          <a:xfrm>
            <a:off x="640080" y="2103120"/>
            <a:ext cx="10058400" cy="1280160"/>
          </a:xfrm>
          <a:prstGeom prst="rect">
            <a:avLst/>
          </a:prstGeom>
          <a:noFill/>
          <a:ln/>
        </p:spPr>
        <p:txBody>
          <a:bodyPr wrap="square" lIns="0" tIns="0" rIns="0" bIns="0" rtlCol="0" anchor="ctr"/>
          <a:lstStyle/>
          <a:p>
            <a:pPr indent="0" marL="0">
              <a:buNone/>
            </a:pPr>
            <a:r>
              <a:rPr lang="en-US" sz="4400" b="1" dirty="0">
                <a:solidFill>
                  <a:srgbClr val="FFFFFF"/>
                </a:solidFill>
                <a:latin typeface="Inter" pitchFamily="34" charset="0"/>
                <a:ea typeface="Inter" pitchFamily="34" charset="-122"/>
                <a:cs typeface="Inter" pitchFamily="34" charset="-120"/>
              </a:rPr>
              <a:t>That's a wrap — thank you! 👋</a:t>
            </a:r>
            <a:endParaRPr lang="en-US" sz="4400" dirty="0"/>
          </a:p>
        </p:txBody>
      </p:sp>
      <p:sp>
        <p:nvSpPr>
          <p:cNvPr id="5" name="Text 3"/>
          <p:cNvSpPr/>
          <p:nvPr/>
        </p:nvSpPr>
        <p:spPr>
          <a:xfrm>
            <a:off x="640080" y="3474720"/>
            <a:ext cx="10058400" cy="548640"/>
          </a:xfrm>
          <a:prstGeom prst="rect">
            <a:avLst/>
          </a:prstGeom>
          <a:noFill/>
          <a:ln/>
        </p:spPr>
        <p:txBody>
          <a:bodyPr wrap="square" lIns="0" tIns="0" rIns="0" bIns="0" rtlCol="0" anchor="ctr"/>
          <a:lstStyle/>
          <a:p>
            <a:pPr indent="0" marL="0">
              <a:buNone/>
            </a:pPr>
            <a:r>
              <a:rPr lang="en-US" sz="1600" dirty="0">
                <a:solidFill>
                  <a:srgbClr val="B1E882"/>
                </a:solidFill>
                <a:latin typeface="Inter" pitchFamily="34" charset="0"/>
                <a:ea typeface="Inter" pitchFamily="34" charset="-122"/>
                <a:cs typeface="Inter" pitchFamily="34" charset="-120"/>
              </a:rPr>
              <a:t>Keep going: ship your capstone and share it with the cohort.</a:t>
            </a:r>
            <a:endParaRPr lang="en-US" sz="1600" dirty="0"/>
          </a:p>
        </p:txBody>
      </p:sp>
      <p:sp>
        <p:nvSpPr>
          <p:cNvPr id="6" name="Shape 4"/>
          <p:cNvSpPr/>
          <p:nvPr/>
        </p:nvSpPr>
        <p:spPr>
          <a:xfrm>
            <a:off x="640080" y="4297680"/>
            <a:ext cx="3383280" cy="868680"/>
          </a:xfrm>
          <a:prstGeom prst="roundRect">
            <a:avLst>
              <a:gd name="adj" fmla="val 12632"/>
            </a:avLst>
          </a:prstGeom>
          <a:solidFill>
            <a:srgbClr val="1E1F1D"/>
          </a:solidFill>
          <a:ln w="12700">
            <a:solidFill>
              <a:srgbClr val="2C2E2A"/>
            </a:solidFill>
            <a:prstDash val="solid"/>
          </a:ln>
        </p:spPr>
      </p:sp>
      <p:sp>
        <p:nvSpPr>
          <p:cNvPr id="7" name="Text 5"/>
          <p:cNvSpPr/>
          <p:nvPr/>
        </p:nvSpPr>
        <p:spPr>
          <a:xfrm>
            <a:off x="868680" y="4453128"/>
            <a:ext cx="3017520" cy="292608"/>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Instructor Name</a:t>
            </a:r>
            <a:endParaRPr lang="en-US" sz="1500" dirty="0"/>
          </a:p>
        </p:txBody>
      </p:sp>
      <p:sp>
        <p:nvSpPr>
          <p:cNvPr id="8" name="Text 6"/>
          <p:cNvSpPr/>
          <p:nvPr/>
        </p:nvSpPr>
        <p:spPr>
          <a:xfrm>
            <a:off x="868680" y="4764024"/>
            <a:ext cx="3017520" cy="274320"/>
          </a:xfrm>
          <a:prstGeom prst="rect">
            <a:avLst/>
          </a:prstGeom>
          <a:noFill/>
          <a:ln/>
        </p:spPr>
        <p:txBody>
          <a:bodyPr wrap="square" lIns="0" tIns="0" rIns="0" bIns="0" rtlCol="0" anchor="ctr"/>
          <a:lstStyle/>
          <a:p>
            <a:pPr indent="0" marL="0">
              <a:buNone/>
            </a:pPr>
            <a:r>
              <a:rPr lang="en-US" sz="1150" dirty="0">
                <a:solidFill>
                  <a:srgbClr val="B1E882"/>
                </a:solidFill>
                <a:latin typeface="Inter" pitchFamily="34" charset="0"/>
                <a:ea typeface="Inter" pitchFamily="34" charset="-122"/>
                <a:cs typeface="Inter" pitchFamily="34" charset="-120"/>
              </a:rPr>
              <a:t>Role or company</a:t>
            </a:r>
            <a:endParaRPr lang="en-US" sz="1150" dirty="0"/>
          </a:p>
        </p:txBody>
      </p:sp>
      <p:sp>
        <p:nvSpPr>
          <p:cNvPr id="9" name="Text 7"/>
          <p:cNvSpPr/>
          <p:nvPr/>
        </p:nvSpPr>
        <p:spPr>
          <a:xfrm>
            <a:off x="640080" y="5486400"/>
            <a:ext cx="6400800" cy="731520"/>
          </a:xfrm>
          <a:prstGeom prst="rect">
            <a:avLst/>
          </a:prstGeom>
          <a:noFill/>
          <a:ln/>
        </p:spPr>
        <p:txBody>
          <a:bodyPr wrap="square" lIns="0" tIns="0" rIns="0" bIns="0" rtlCol="0" anchor="ctr"/>
          <a:lstStyle/>
          <a:p>
            <a:pPr indent="0" marL="0">
              <a:lnSpc>
                <a:spcPct val="125000"/>
              </a:lnSpc>
              <a:buNone/>
            </a:pPr>
            <a:r>
              <a:rPr lang="en-US" sz="1300" dirty="0">
                <a:solidFill>
                  <a:srgbClr val="D6D9D2"/>
                </a:solidFill>
                <a:latin typeface="Inter" pitchFamily="34" charset="0"/>
                <a:ea typeface="Inter" pitchFamily="34" charset="-122"/>
                <a:cs typeface="Inter" pitchFamily="34" charset="-120"/>
              </a:rPr>
              <a:t>Support@academy.genai.works</a:t>
            </a:r>
            <a:endParaRPr lang="en-US" sz="1300" dirty="0"/>
          </a:p>
          <a:p>
            <a:pPr indent="0" marL="0">
              <a:lnSpc>
                <a:spcPct val="125000"/>
              </a:lnSpc>
              <a:buNone/>
            </a:pPr>
            <a:r>
              <a:rPr lang="en-US" sz="1300" dirty="0">
                <a:solidFill>
                  <a:srgbClr val="D6D9D2"/>
                </a:solidFill>
                <a:latin typeface="Inter" pitchFamily="34" charset="0"/>
                <a:ea typeface="Inter" pitchFamily="34" charset="-122"/>
                <a:cs typeface="Inter" pitchFamily="34" charset="-120"/>
              </a:rPr>
              <a:t>Capstones + questions → the course Slack channel.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Excel — Session 3</dc:title>
  <dc:subject>PptxGenJS Presentation</dc:subject>
  <dc:creator>GenAI Works Academy</dc:creator>
  <cp:lastModifiedBy>GenAI Works Academy</cp:lastModifiedBy>
  <cp:revision>1</cp:revision>
  <dcterms:created xsi:type="dcterms:W3CDTF">2026-06-26T18:29:00Z</dcterms:created>
  <dcterms:modified xsi:type="dcterms:W3CDTF">2026-06-26T18:29:00Z</dcterms:modified>
</cp:coreProperties>
</file>