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people as they arrive; ask in chat what they hope to stop doing by hand. Open: 'Most of us are doing far more in Excel by hand than we need to. Over three sessions we'll fix that — not with gimmicks, but with workflows you can run the same day.' Set expectations: every session has a real task you can reuse. Today is about the map of the tools and a first win cleaning a messy file. Note housekeeping: recording is on, questions in chat, Slack channel for follow-up. Keep this slide up for ~2 min while people trickle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in ~60 seconds. Emphasize the demo and the assignment are the heart of it. Tell them: 'You don't need to take notes on the clicks — the solution guide has every step. Watch for the *decisions*: when to trust AI, when to check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core promise. Give one concrete example from your own work: a monthly report that took two hours of copy-paste, now one click. Ask the room (chat): 'What's the recurring Excel task you dread most?' Read 2-3 answers aloud — you'll callback to these in Session 3 for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for the whole course. Hit one line each: Power Query = prep that repeats; Copilot = ask-in-place on clean data; Python in Excel = heavier analysis without leaving Excel; general assistant = your tutor and translator. Stress: these are complements, not competitors. We'll keep coming back to 'which one for this task?' — that's a graded learning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slide for trust. Theme: AI is a strong *drafter and explainer*, a weak *source of truth*. Tell a quick story of a confidently wrong AI formula you caught. Repeat the course mantra: 'Treat AI output as a draft, not as final truth.' Mention data safety now — we'll revisit. Don't dwell; this frames the demo where they'll watch you check the AI's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and slowly — setup friction is where you lose people. Share your screen showing the Copilot button and a =PY( cell. Reassure the no-M365 crowd repeatedly; point them to the free assistant. Ask everyone to confirm in chat with a '1' once they can see Copilot OR have a =PY( cell OR an assistant tab open. Wait for the room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'Enough map — let's drive.' Open the raw file fresh so they see the mess in its natural state. Set the goal out loud: one clean, refreshable table, total revenue around $555K.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the full clean (~15 min). Narrate the WHY at each step, not just the click. Key teaching beat at step 4: paste the messy Region values into your AI assistant, ask for M that maps to North/South/East/West, then read the code aloud and ask the room 'do we trust this?' — point out StartsWith('n') only matches North here, but on real data you'd check. At step 6, when 'two' errors, pause: 'In real life I'd investigate this, not silently delete it.' End on Refresh: change nothing, click Refresh, show steps re-run. Full click path + M code is in solutions/session-1-power-query-solution.md.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idea to make sticky. Copy-paste = you do it again next month. A connection = Refresh. Say it twice. This habit underpins the whole course and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energy beat. The 19→4 number always lands — pull it up live with =UNIQUE() on the raw column if time allows. Frame: 'You paid the cost once; the workflow pays you back every month.'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skip this even when short on time — it's a stated learning outcome and it protects them at work. Make it practical, not preachy: 'You don't need to paste your whole P&amp;L into ChatGPT to get help — ten anonymized rows is enough.' Invite their org's own policies into the Slack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60 seconds. Ask the room to drop their single biggest takeaway in chat — quick engagement and you'll see what landed. Then move straight to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required task unmissable: clean the provided file, post the row count + total to Slack. That post is your attendance + comprehension check and seeds Session 2's 'reproduce on your own data.' Tell them the solution guide is in the repo if they get stuck — but to try first. Offer office hours / async help in Slack.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warm. Remind them Session 2 builds directly on a clean table like the one they just made. Take live Q&amp;A here until time. Common questions: 'Do I need Copilot?' (No — flagged moments only.) 'Will Python in Excel cost me?' (It's included in M365 business/enterprise; personal varies — check your plan.) Point everyone to Slack and the support email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818120" y="1051560"/>
            <a:ext cx="3749040" cy="4754880"/>
          </a:xfrm>
          <a:prstGeom prst="roundRect">
            <a:avLst>
              <a:gd name="adj" fmla="val 6829"/>
            </a:avLst>
          </a:prstGeom>
          <a:solidFill>
            <a:srgbClr val="10111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0" y="1554480"/>
            <a:ext cx="2926080" cy="1371600"/>
          </a:xfrm>
          <a:prstGeom prst="roundRect">
            <a:avLst>
              <a:gd name="adj" fmla="val 13333"/>
            </a:avLst>
          </a:prstGeom>
          <a:solidFill>
            <a:srgbClr val="B1E8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554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=PY( 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in Excel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in Excel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assistant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4127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8288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Modern Excel + AI Landscape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each tool fits — and your first hands-on data cleanup.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10111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13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Name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724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or company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911096"/>
            <a:ext cx="47548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lay of the land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Query, Copilot, Python in Excel, your AI assistant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22320"/>
            <a:ext cx="457200" cy="457200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22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67456"/>
            <a:ext cx="47548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AI does well — and where it fails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you trust it appropriately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678680"/>
            <a:ext cx="457200" cy="457200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4623816"/>
            <a:ext cx="47548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your toolkit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Copilot, Python in Excel, a general assistant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0" y="1911096"/>
            <a:ext cx="47548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demo: clean a messy export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+ AI, start to finish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322320"/>
            <a:ext cx="457200" cy="457200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322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3267456"/>
            <a:ext cx="47548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it repeatable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Connect, don't paste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4678680"/>
            <a:ext cx="457200" cy="457200"/>
          </a:xfrm>
          <a:prstGeom prst="ellipse">
            <a:avLst/>
          </a:prstGeom>
          <a:solidFill>
            <a:srgbClr val="B1E88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0" y="4623816"/>
            <a:ext cx="47548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assignment + Q&amp;A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the file on your own before Session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4185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PREMISE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spreadsheet task eats your week, it's probably a workflow waiting to happen — not a chore you're stuck with.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555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tools, four jobs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272888" cy="1668780"/>
          </a:xfrm>
          <a:prstGeom prst="roundRect">
            <a:avLst>
              <a:gd name="adj" fmla="val 7671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5176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B1E8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724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 and reshapes data with steps that REPEAT on refresh. Built into Excel. Your data-prep workhorse.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2377440"/>
            <a:ext cx="5272888" cy="1668780"/>
          </a:xfrm>
          <a:prstGeom prst="roundRect">
            <a:avLst>
              <a:gd name="adj" fmla="val 7671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65176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B1E882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4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53048" y="329184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in Excel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53048" y="3749040"/>
            <a:ext cx="4724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help inside Excel: summaries, formulas, charts on a clean Table. Needs M365 + a saved file.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11980"/>
            <a:ext cx="5272888" cy="1668780"/>
          </a:xfrm>
          <a:prstGeom prst="roundRect">
            <a:avLst>
              <a:gd name="adj" fmla="val 7671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6863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B1E88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86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3263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in Excel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4400" y="5783580"/>
            <a:ext cx="4724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analysis in a cell — grouping, stats, charts — when formulas get unwieldy. Runs in the cloud, stays in the grid.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4411980"/>
            <a:ext cx="5272888" cy="1668780"/>
          </a:xfrm>
          <a:prstGeom prst="roundRect">
            <a:avLst>
              <a:gd name="adj" fmla="val 7671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53048" y="468630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B1E8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53048" y="4686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53048" y="53263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assistant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53048" y="5783580"/>
            <a:ext cx="47242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/ Claude for explaining errors, drafting formulas, and writing documentation. Works on any plan.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555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YOUR TRUST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AI does well — and where it fails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257800" cy="3657600"/>
          </a:xfrm>
          <a:prstGeom prst="roundRect">
            <a:avLst>
              <a:gd name="adj" fmla="val 4000"/>
            </a:avLst>
          </a:prstGeom>
          <a:solidFill>
            <a:srgbClr val="10111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51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Reaches for it confidently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Explaining a formula or an error message in plain English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a first-pass formula or Power Query step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Summarizing a clean table; suggesting a chart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 documentation and run-books for your workflow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'what I want' into 'how to do it' in Excel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257800" cy="3657600"/>
          </a:xfrm>
          <a:prstGeom prst="roundRect">
            <a:avLst>
              <a:gd name="adj" fmla="val 4000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6517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Verify, or don't use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 multi-step logic — check every formula it writes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 on large ranges — it can quietly miscount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with confidential data in a public tool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about your numbers — validate against the source</a:t>
            </a:r>
            <a:endParaRPr lang="en-US" sz="1350" dirty="0"/>
          </a:p>
          <a:p>
            <a:pPr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your business rules — that's still your job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555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your toolkit ready (5 minutes)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365 + a file saved to OneDrive/SharePoint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and Python in Excel need a current build and a cloud-saved workbook.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Copilot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tab ▸ Copilot. If you don't see it, you're likely on an unsupported build — that's fine, you can still follow along.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Python in Excel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=PY( in a cell, or Formulas ▸ Python. First run downloads the environment.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 general AI assistant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or Claude in a browser tab — free tier is plenty for this course.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2240280"/>
            <a:ext cx="3931920" cy="3566160"/>
          </a:xfrm>
          <a:prstGeom prst="roundRect">
            <a:avLst>
              <a:gd name="adj" fmla="val 4103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0" y="25557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10" name="Text 8"/>
          <p:cNvSpPr/>
          <p:nvPr/>
        </p:nvSpPr>
        <p:spPr>
          <a:xfrm>
            <a:off x="8101584" y="2514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M365?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880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still do this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36118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and the general AI assistant cover most of today. We'll flag the Copilot- and Python-only moments so nobody is stuck.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7843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743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31089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messy export to a table you can trust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regional-sales-RAW.csv with Power Query + AI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D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 datasets/session-1/regional-sales-RAW.csv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424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▸ Get Data ▸ From Text/CSV → Transform Data (connect, don't paste).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3 junk rows; Use First Row as Headers.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 + Clean the text columns (Region, Sales Rep, Product).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Region to 4 values — ask AI for the M, then READ it before trusting it.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Sales Rep ('Last, First' → 'First Last') with Column From Examples.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Revenue: strip $ and commas → Decimal; Quantity → Whole Number; remove the 'two' error row.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TOTAL row and exact duplicates; set Order Date to Date.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E8E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&amp; Load. Validate: ~248 rows, SUM(Revenue) ≈ $555,000.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41858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HABIT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to the file. Don't copy-paste it. That single choice is what turns a chore into a workflow you can refresh.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555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IT'S WORTH 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payoff compounds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393338" cy="2468880"/>
          </a:xfrm>
          <a:prstGeom prst="roundRect">
            <a:avLst>
              <a:gd name="adj" fmla="val 5926"/>
            </a:avLst>
          </a:prstGeom>
          <a:solidFill>
            <a:srgbClr val="10111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6324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6D9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steps recorded once — and re-run on every refresh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9178" y="2651760"/>
            <a:ext cx="3393338" cy="2468880"/>
          </a:xfrm>
          <a:prstGeom prst="roundRect">
            <a:avLst>
              <a:gd name="adj" fmla="val 5926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2058" y="306324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27778" y="420624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to clean next quarter's file the same way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2651760"/>
            <a:ext cx="3393338" cy="2468880"/>
          </a:xfrm>
          <a:prstGeom prst="roundRect">
            <a:avLst>
              <a:gd name="adj" fmla="val 5926"/>
            </a:avLst>
          </a:prstGeom>
          <a:solidFill>
            <a:srgbClr val="101110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1157" y="306324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19→4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86877" y="4206240"/>
            <a:ext cx="2936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6D9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messy region spellings collapsed to 4 clean values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from today's dataset. The real win isn't the time saved once — it's never doing it by hand again.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555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SAFE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AI use (we'll repeat this)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confidential data out of public AI tools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Unless your org has approved them. A small anonymized sample usually does the job.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formulas before you rely on them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Especially anything an AI wrote. Spot-check against numbers you already know.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summaries against the source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sound confident and be wrong. The grid is the truth.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workflow before you reuse it</a:t>
            </a:r>
            <a:endParaRPr lang="en-US" sz="1600" dirty="0"/>
          </a:p>
          <a:p>
            <a:pPr lvl="1"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can't explain a step, don't ship it. AI can help you understand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0012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remember from Session 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505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B1E8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10058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tools, four jobs: Power Query preps, Copilot asks-in-place, Python analyzes, your assistant explains.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9699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B1E8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8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14700"/>
            <a:ext cx="10058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a strong drafter and explainer — a weak source of truth. Verify what matters.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B1E8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10058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Connect, don't paste: a connection can be refreshed; a paste can't.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1800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B1E8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617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97780"/>
            <a:ext cx="10058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records your steps, so cleaning happens once and repeats forever.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0012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1E8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NEXT SESSION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Session 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required task and two optional stretches. Post a screenshot of your clean table's row count + total in Slack.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393338" cy="3108960"/>
          </a:xfrm>
          <a:prstGeom prst="roundRect">
            <a:avLst>
              <a:gd name="adj" fmla="val 4118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10111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the file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2844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full Power Query clean on regional-sales-RAW.csv. Target ~248 rows and ≈ $555K total revenue. Save the workbook.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9178" y="2880360"/>
            <a:ext cx="3393338" cy="3108960"/>
          </a:xfrm>
          <a:prstGeom prst="roundRect">
            <a:avLst>
              <a:gd name="adj" fmla="val 4118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3498" y="3154680"/>
            <a:ext cx="457200" cy="457200"/>
          </a:xfrm>
          <a:prstGeom prst="ellipse">
            <a:avLst/>
          </a:prstGeom>
          <a:solidFill>
            <a:srgbClr val="101110"/>
          </a:solidFill>
          <a:ln/>
        </p:spPr>
      </p:sp>
      <p:sp>
        <p:nvSpPr>
          <p:cNvPr id="15" name="Text 13"/>
          <p:cNvSpPr/>
          <p:nvPr/>
        </p:nvSpPr>
        <p:spPr>
          <a:xfrm>
            <a:off x="467349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3498" y="379476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one decision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73498" y="4343400"/>
            <a:ext cx="2844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sentence in Slack about a choice you made (e.g. how you handled blank regions) and why.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880360"/>
            <a:ext cx="3393338" cy="3108960"/>
          </a:xfrm>
          <a:prstGeom prst="roundRect">
            <a:avLst>
              <a:gd name="adj" fmla="val 4118"/>
            </a:avLst>
          </a:prstGeom>
          <a:solidFill>
            <a:srgbClr val="F4F7EF"/>
          </a:solidFill>
          <a:ln w="12700">
            <a:solidFill>
              <a:srgbClr val="E3E6D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2597" y="3154680"/>
            <a:ext cx="457200" cy="457200"/>
          </a:xfrm>
          <a:prstGeom prst="ellipse">
            <a:avLst/>
          </a:prstGeom>
          <a:solidFill>
            <a:srgbClr val="101110"/>
          </a:solidFill>
          <a:ln/>
        </p:spPr>
      </p:sp>
      <p:sp>
        <p:nvSpPr>
          <p:cNvPr id="20" name="Text 18"/>
          <p:cNvSpPr/>
          <p:nvPr/>
        </p:nvSpPr>
        <p:spPr>
          <a:xfrm>
            <a:off x="8432597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32597" y="379476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11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(optional)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2597" y="4343400"/>
            <a:ext cx="2844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D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the same clean on a small, anonymized sample of YOUR own messy data. Bring a question to Session 2.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for Excel · Session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37744" cy="237744"/>
          </a:xfrm>
          <a:prstGeom prst="roundRect">
            <a:avLst>
              <a:gd name="adj" fmla="val 26923"/>
            </a:avLst>
          </a:prstGeom>
          <a:solidFill>
            <a:srgbClr val="B1E882"/>
          </a:solidFill>
          <a:ln/>
        </p:spPr>
      </p:sp>
      <p:sp>
        <p:nvSpPr>
          <p:cNvPr id="3" name="Text 1"/>
          <p:cNvSpPr/>
          <p:nvPr/>
        </p:nvSpPr>
        <p:spPr>
          <a:xfrm>
            <a:off x="941832" y="310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Academy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you in Session 2! 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2: Formulas, Analysis &amp; Summaries — knowing which tool to reach for.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1E1F1D"/>
          </a:solidFill>
          <a:ln w="12700">
            <a:solidFill>
              <a:srgbClr val="2C2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453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764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1E8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1 of 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Support@academy.genai.works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your cleaned-file screenshot in the course Slack channel.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Excel — Session 1</dc:title>
  <dc:subject>PptxGenJS Presentation</dc:subject>
  <dc:creator>GenAI Works Academy</dc:creator>
  <cp:lastModifiedBy>GenAI Works Academy</cp:lastModifiedBy>
  <cp:revision>1</cp:revision>
  <dcterms:created xsi:type="dcterms:W3CDTF">2026-06-26T18:25:20Z</dcterms:created>
  <dcterms:modified xsi:type="dcterms:W3CDTF">2026-06-26T18:25:20Z</dcterms:modified>
</cp:coreProperties>
</file>