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Quick temperature check in chat: who cleaned the file and posted to Slack? Celebrate that. Frame today: 'Last week we made a clean table. Today we put it to work — with formulas, with Python in Excel, and with Copilot — and you'll leave knowing which tool fits which job.' Keep it up ~90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30–45 sec. Flag that there are three short live demos today, one per tool, all answering the SAME question. Tell them the dataset and solution code are in the repo so they can replay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whole session on one concrete question. It keeps three tools from feeling like three topics. Open budget-vs-actual.xlsx now so they see the BudgetVsActual Table. Reference answer to keep in your back pocket: total is +3.3% over budget; R&amp;D (+13%) and Marketing (+9%) over; Customer Success (-9%) and Sales (-4%) under. Don't reveal it yet — let the tools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three roads. Stress they're not ranked — each wins for a different job. Promise a clear decision rule at the end. Then dive into the first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The lesson is AI-as-formula-writer-and-explainer. At step 2, show the prompt and then READ the result before accepting. At step 3, if GROUPBY exists, marvel at one formula replacing a block; if not, use UNIQUE + SUMIFS and explain spilling. Step 5 is the keeper: paste =SUMIF(dept,"R&amp;D",actual,budget) — wrong arg count — and let AI explain the error. Mantra: AI is great at explaining the error message. Code in solutions/session-2-formulas-python-solution.md.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transferable skill in the course — it works in any AI tool, forever. Walk Context → Goal → Constraints with a live example, improving a lazy prompt into a good one in real time. Point to the prompt cheat sheet (prompts/prompt-cheat-sheet). Keep to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Reassure non-coders: 'You are reading and adapting, not writing from scratch — and AI writes the first draft.' Show the same R&amp;D-on-top ranking appear — the 'two roads, same destination' moment is powerful. Only standard libraries (pandas, matplotlib) — no installs. If Python in Excel isn't on someone's plan, tell them to watch and replay from the solution file. Emphasize: results stay IN Excel, data doesn't leave to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Manage expectations out loud: results vary by build and version — that's reality, not failure. Copilot shines at 'summarize / pivot / chart' on clean data and is weakest at precise logic, so verify the column it adds. The refusal troubleshooting (Table + cloud-saved) is the #1 support question — demo it. If you have no Copilot, narrate from screenshots and lean on Road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they'll screenshot. Walk left column as the happy path, right as the guardrails. Tie back to the Session 1 trust slide. This 'which tool when' judgment is a graded learning outcome —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slide. The point isn't the numbers — it's that three independent methods agreed, which is exactly how you build trust in AI-assisted analysis. Ask: 'Did everyone's R&amp;D come out on top?' Troubleshoot any mismatch live — usually a stray filter or a wrong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~60 sec. Ask for one-word chat answers: which road felt most natural to you? You'll learn where the cohort's comfort is and can tailor Session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required task cements fluency and seeds the capstone. Push hard on item 2: 'Come to Session 3 with a real, anonymized sample of a report you actually run.' That's what turns the final session from demo into their own deliverable. Remind them of the data-safety rule when choosing a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take Q&amp;A. Tease Session 3: 'Next time we stop answering one-off questions and build something that refreshes itself — and you'll start your own.' Common Qs: 'Is GROUPBY available?' (newer builds; SUMIFS is the fallback). 'Does Python in Excel send my data to a chatbot?' (No — it runs in the Microsoft cloud, not an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7818120" y="1051560"/>
            <a:ext cx="3749040" cy="4754880"/>
          </a:xfrm>
          <a:prstGeom prst="roundRect">
            <a:avLst>
              <a:gd name="adj" fmla="val 6829"/>
            </a:avLst>
          </a:prstGeom>
          <a:solidFill>
            <a:srgbClr val="101110"/>
          </a:solidFill>
          <a:ln/>
          <a:effectLst>
            <a:outerShdw sx="100000" sy="100000" kx="0" ky="0" algn="bl" rotWithShape="0" blurRad="114300" dist="38100" dir="5400000">
              <a:srgbClr val="000000">
                <a:alpha val="10000"/>
              </a:srgbClr>
            </a:outerShdw>
          </a:effectLst>
        </p:spPr>
      </p:sp>
      <p:sp>
        <p:nvSpPr>
          <p:cNvPr id="5" name="Shape 3"/>
          <p:cNvSpPr/>
          <p:nvPr/>
        </p:nvSpPr>
        <p:spPr>
          <a:xfrm>
            <a:off x="8229600" y="1554480"/>
            <a:ext cx="2926080" cy="1371600"/>
          </a:xfrm>
          <a:prstGeom prst="roundRect">
            <a:avLst>
              <a:gd name="adj" fmla="val 13333"/>
            </a:avLst>
          </a:prstGeom>
          <a:solidFill>
            <a:srgbClr val="B1E882"/>
          </a:solidFill>
          <a:ln/>
        </p:spPr>
      </p:sp>
      <p:sp>
        <p:nvSpPr>
          <p:cNvPr id="6" name="Text 4"/>
          <p:cNvSpPr/>
          <p:nvPr/>
        </p:nvSpPr>
        <p:spPr>
          <a:xfrm>
            <a:off x="8229600" y="1554480"/>
            <a:ext cx="2926080" cy="1371600"/>
          </a:xfrm>
          <a:prstGeom prst="rect">
            <a:avLst/>
          </a:prstGeom>
          <a:noFill/>
          <a:ln/>
        </p:spPr>
        <p:txBody>
          <a:bodyPr wrap="square" lIns="0" tIns="0" rIns="0" bIns="0" rtlCol="0" anchor="ctr"/>
          <a:lstStyle/>
          <a:p>
            <a:pPr algn="ctr" indent="0" marL="0">
              <a:buNone/>
            </a:pPr>
            <a:r>
              <a:rPr lang="en-US" sz="3000" b="1" dirty="0">
                <a:solidFill>
                  <a:srgbClr val="101110"/>
                </a:solidFill>
                <a:latin typeface="Inter" pitchFamily="34" charset="0"/>
                <a:ea typeface="Inter" pitchFamily="34" charset="-122"/>
                <a:cs typeface="Inter" pitchFamily="34" charset="-120"/>
              </a:rPr>
              <a:t>=PY( )</a:t>
            </a:r>
            <a:endParaRPr lang="en-US" sz="3000" dirty="0"/>
          </a:p>
        </p:txBody>
      </p:sp>
      <p:sp>
        <p:nvSpPr>
          <p:cNvPr id="7" name="Text 5"/>
          <p:cNvSpPr/>
          <p:nvPr/>
        </p:nvSpPr>
        <p:spPr>
          <a:xfrm>
            <a:off x="8229600" y="3200400"/>
            <a:ext cx="2926080" cy="2286000"/>
          </a:xfrm>
          <a:prstGeom prst="rect">
            <a:avLst/>
          </a:prstGeom>
          <a:noFill/>
          <a:ln/>
        </p:spPr>
        <p:txBody>
          <a:bodyPr wrap="square" lIns="0" tIns="0" rIns="0" bIns="0" rtlCol="0" anchor="ctr"/>
          <a:lstStyle/>
          <a:p>
            <a:pPr indent="0" marL="0">
              <a:lnSpc>
                <a:spcPct val="150000"/>
              </a:lnSpc>
              <a:buNone/>
            </a:pPr>
            <a:r>
              <a:rPr lang="en-US" sz="1400" b="1" dirty="0">
                <a:solidFill>
                  <a:srgbClr val="FFFFFF"/>
                </a:solidFill>
                <a:latin typeface="Inter" pitchFamily="34" charset="0"/>
                <a:ea typeface="Inter" pitchFamily="34" charset="-122"/>
                <a:cs typeface="Inter" pitchFamily="34" charset="-120"/>
              </a:rPr>
              <a:t>Power Query</a:t>
            </a:r>
            <a:endParaRPr lang="en-US" sz="1400" dirty="0"/>
          </a:p>
          <a:p>
            <a:pPr indent="0" marL="0">
              <a:lnSpc>
                <a:spcPct val="150000"/>
              </a:lnSpc>
              <a:buNone/>
            </a:pPr>
            <a:r>
              <a:rPr lang="en-US" sz="1400" b="1" dirty="0">
                <a:solidFill>
                  <a:srgbClr val="FFFFFF"/>
                </a:solidFill>
                <a:latin typeface="Inter" pitchFamily="34" charset="0"/>
                <a:ea typeface="Inter" pitchFamily="34" charset="-122"/>
                <a:cs typeface="Inter" pitchFamily="34" charset="-120"/>
              </a:rPr>
              <a:t>Copilot in Excel</a:t>
            </a:r>
            <a:endParaRPr lang="en-US" sz="1400" dirty="0"/>
          </a:p>
          <a:p>
            <a:pPr indent="0" marL="0">
              <a:lnSpc>
                <a:spcPct val="150000"/>
              </a:lnSpc>
              <a:buNone/>
            </a:pPr>
            <a:r>
              <a:rPr lang="en-US" sz="1400" b="1" dirty="0">
                <a:solidFill>
                  <a:srgbClr val="FFFFFF"/>
                </a:solidFill>
                <a:latin typeface="Inter" pitchFamily="34" charset="0"/>
                <a:ea typeface="Inter" pitchFamily="34" charset="-122"/>
                <a:cs typeface="Inter" pitchFamily="34" charset="-120"/>
              </a:rPr>
              <a:t>Python in Excel</a:t>
            </a:r>
            <a:endParaRPr lang="en-US" sz="1400" dirty="0"/>
          </a:p>
          <a:p>
            <a:pPr indent="0" marL="0">
              <a:lnSpc>
                <a:spcPct val="150000"/>
              </a:lnSpc>
              <a:buNone/>
            </a:pPr>
            <a:r>
              <a:rPr lang="en-US" sz="1400" b="1" dirty="0">
                <a:solidFill>
                  <a:srgbClr val="B1E882"/>
                </a:solidFill>
                <a:latin typeface="Inter" pitchFamily="34" charset="0"/>
                <a:ea typeface="Inter" pitchFamily="34" charset="-122"/>
                <a:cs typeface="Inter" pitchFamily="34" charset="-120"/>
              </a:rPr>
              <a:t>Your AI assistant</a:t>
            </a:r>
            <a:endParaRPr lang="en-US" sz="1400" dirty="0"/>
          </a:p>
        </p:txBody>
      </p:sp>
      <p:sp>
        <p:nvSpPr>
          <p:cNvPr id="8" name="Shape 6"/>
          <p:cNvSpPr/>
          <p:nvPr/>
        </p:nvSpPr>
        <p:spPr>
          <a:xfrm>
            <a:off x="640080" y="1412748"/>
            <a:ext cx="146304" cy="146304"/>
          </a:xfrm>
          <a:prstGeom prst="roundRect">
            <a:avLst>
              <a:gd name="adj" fmla="val 25000"/>
            </a:avLst>
          </a:prstGeom>
          <a:solidFill>
            <a:srgbClr val="B1E882"/>
          </a:solidFill>
          <a:ln/>
        </p:spPr>
      </p:sp>
      <p:sp>
        <p:nvSpPr>
          <p:cNvPr id="9" name="Text 7"/>
          <p:cNvSpPr/>
          <p:nvPr/>
        </p:nvSpPr>
        <p:spPr>
          <a:xfrm>
            <a:off x="877824" y="13716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AI FOR EXCEL</a:t>
            </a:r>
            <a:endParaRPr lang="en-US" sz="1200" dirty="0"/>
          </a:p>
        </p:txBody>
      </p:sp>
      <p:sp>
        <p:nvSpPr>
          <p:cNvPr id="10" name="Text 8"/>
          <p:cNvSpPr/>
          <p:nvPr/>
        </p:nvSpPr>
        <p:spPr>
          <a:xfrm>
            <a:off x="621792" y="1828800"/>
            <a:ext cx="6766560" cy="2377440"/>
          </a:xfrm>
          <a:prstGeom prst="rect">
            <a:avLst/>
          </a:prstGeom>
          <a:noFill/>
          <a:ln/>
        </p:spPr>
        <p:txBody>
          <a:bodyPr wrap="square" lIns="0" tIns="0" rIns="0" bIns="0" rtlCol="0" anchor="ctr"/>
          <a:lstStyle/>
          <a:p>
            <a:pPr indent="0" marL="0">
              <a:lnSpc>
                <a:spcPct val="102000"/>
              </a:lnSpc>
              <a:buNone/>
            </a:pPr>
            <a:r>
              <a:rPr lang="en-US" sz="4200" b="1" dirty="0">
                <a:solidFill>
                  <a:srgbClr val="101110"/>
                </a:solidFill>
                <a:latin typeface="Inter" pitchFamily="34" charset="0"/>
                <a:ea typeface="Inter" pitchFamily="34" charset="-122"/>
                <a:cs typeface="Inter" pitchFamily="34" charset="-120"/>
              </a:rPr>
              <a:t>Formulas, Analysis &amp; Summaries</a:t>
            </a:r>
            <a:endParaRPr lang="en-US" sz="4200" dirty="0"/>
          </a:p>
        </p:txBody>
      </p:sp>
      <p:sp>
        <p:nvSpPr>
          <p:cNvPr id="11" name="Text 9"/>
          <p:cNvSpPr/>
          <p:nvPr/>
        </p:nvSpPr>
        <p:spPr>
          <a:xfrm>
            <a:off x="640080" y="4160520"/>
            <a:ext cx="6583680" cy="822960"/>
          </a:xfrm>
          <a:prstGeom prst="rect">
            <a:avLst/>
          </a:prstGeom>
          <a:noFill/>
          <a:ln/>
        </p:spPr>
        <p:txBody>
          <a:bodyPr wrap="square" lIns="0" tIns="0" rIns="0" bIns="0" rtlCol="0" anchor="ctr"/>
          <a:lstStyle/>
          <a:p>
            <a:pPr indent="0" marL="0">
              <a:lnSpc>
                <a:spcPct val="115000"/>
              </a:lnSpc>
              <a:buNone/>
            </a:pPr>
            <a:r>
              <a:rPr lang="en-US" sz="1600" dirty="0">
                <a:solidFill>
                  <a:srgbClr val="6B6F6B"/>
                </a:solidFill>
                <a:latin typeface="Inter" pitchFamily="34" charset="0"/>
                <a:ea typeface="Inter" pitchFamily="34" charset="-122"/>
                <a:cs typeface="Inter" pitchFamily="34" charset="-120"/>
              </a:rPr>
              <a:t>Three roads to an answer — and knowing which to take.</a:t>
            </a:r>
            <a:endParaRPr lang="en-US" sz="1600" dirty="0"/>
          </a:p>
        </p:txBody>
      </p:sp>
      <p:sp>
        <p:nvSpPr>
          <p:cNvPr id="12" name="Shape 10"/>
          <p:cNvSpPr/>
          <p:nvPr/>
        </p:nvSpPr>
        <p:spPr>
          <a:xfrm>
            <a:off x="640080" y="5257800"/>
            <a:ext cx="3383280" cy="868680"/>
          </a:xfrm>
          <a:prstGeom prst="roundRect">
            <a:avLst>
              <a:gd name="adj" fmla="val 12632"/>
            </a:avLst>
          </a:prstGeom>
          <a:solidFill>
            <a:srgbClr val="101110"/>
          </a:solidFill>
          <a:ln/>
        </p:spPr>
      </p:sp>
      <p:sp>
        <p:nvSpPr>
          <p:cNvPr id="13" name="Text 11"/>
          <p:cNvSpPr/>
          <p:nvPr/>
        </p:nvSpPr>
        <p:spPr>
          <a:xfrm>
            <a:off x="868680" y="5413248"/>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Instructor Name</a:t>
            </a:r>
            <a:endParaRPr lang="en-US" sz="1500" dirty="0"/>
          </a:p>
        </p:txBody>
      </p:sp>
      <p:sp>
        <p:nvSpPr>
          <p:cNvPr id="14" name="Text 12"/>
          <p:cNvSpPr/>
          <p:nvPr/>
        </p:nvSpPr>
        <p:spPr>
          <a:xfrm>
            <a:off x="868680" y="5724144"/>
            <a:ext cx="3017520" cy="274320"/>
          </a:xfrm>
          <a:prstGeom prst="rect">
            <a:avLst/>
          </a:prstGeom>
          <a:noFill/>
          <a:ln/>
        </p:spPr>
        <p:txBody>
          <a:bodyPr wrap="square" lIns="0" tIns="0" rIns="0" bIns="0" rtlCol="0" anchor="ctr"/>
          <a:lstStyle/>
          <a:p>
            <a:pPr indent="0" marL="0">
              <a:buNone/>
            </a:pPr>
            <a:r>
              <a:rPr lang="en-US" sz="1150" dirty="0">
                <a:solidFill>
                  <a:srgbClr val="B1E882"/>
                </a:solidFill>
                <a:latin typeface="Inter" pitchFamily="34" charset="0"/>
                <a:ea typeface="Inter" pitchFamily="34" charset="-122"/>
                <a:cs typeface="Inter" pitchFamily="34" charset="-120"/>
              </a:rPr>
              <a:t>Role or company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Text 2"/>
          <p:cNvSpPr/>
          <p:nvPr/>
        </p:nvSpPr>
        <p:spPr>
          <a:xfrm>
            <a:off x="640080" y="960120"/>
            <a:ext cx="7315200" cy="731520"/>
          </a:xfrm>
          <a:prstGeom prst="rect">
            <a:avLst/>
          </a:prstGeom>
          <a:noFill/>
          <a:ln/>
        </p:spPr>
        <p:txBody>
          <a:bodyPr wrap="square" lIns="0" tIns="0" rIns="0" bIns="0" rtlCol="0" anchor="ctr"/>
          <a:lstStyle/>
          <a:p>
            <a:pPr indent="0" marL="0">
              <a:buNone/>
            </a:pPr>
            <a:r>
              <a:rPr lang="en-US" sz="3200" b="1" dirty="0">
                <a:solidFill>
                  <a:srgbClr val="101110"/>
                </a:solidFill>
                <a:latin typeface="Inter" pitchFamily="34" charset="0"/>
                <a:ea typeface="Inter" pitchFamily="34" charset="-122"/>
                <a:cs typeface="Inter" pitchFamily="34" charset="-120"/>
              </a:rPr>
              <a:t>Today</a:t>
            </a:r>
            <a:endParaRPr lang="en-US" sz="3200" dirty="0"/>
          </a:p>
        </p:txBody>
      </p:sp>
      <p:sp>
        <p:nvSpPr>
          <p:cNvPr id="5" name="Shape 3"/>
          <p:cNvSpPr/>
          <p:nvPr/>
        </p:nvSpPr>
        <p:spPr>
          <a:xfrm>
            <a:off x="640080" y="1965960"/>
            <a:ext cx="457200" cy="457200"/>
          </a:xfrm>
          <a:prstGeom prst="ellipse">
            <a:avLst/>
          </a:prstGeom>
          <a:solidFill>
            <a:srgbClr val="B1E882"/>
          </a:solidFill>
          <a:ln/>
        </p:spPr>
      </p:sp>
      <p:sp>
        <p:nvSpPr>
          <p:cNvPr id="6" name="Text 4"/>
          <p:cNvSpPr/>
          <p:nvPr/>
        </p:nvSpPr>
        <p:spPr>
          <a:xfrm>
            <a:off x="640080" y="196596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1</a:t>
            </a:r>
            <a:endParaRPr lang="en-US" sz="1700" dirty="0"/>
          </a:p>
        </p:txBody>
      </p:sp>
      <p:sp>
        <p:nvSpPr>
          <p:cNvPr id="7" name="Text 5"/>
          <p:cNvSpPr/>
          <p:nvPr/>
        </p:nvSpPr>
        <p:spPr>
          <a:xfrm>
            <a:off x="1280160" y="191109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Recap: from clean data to answers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You bring a clean Table; AI helps you analyze it</a:t>
            </a:r>
            <a:endParaRPr lang="en-US" sz="1600" dirty="0"/>
          </a:p>
        </p:txBody>
      </p:sp>
      <p:sp>
        <p:nvSpPr>
          <p:cNvPr id="8" name="Shape 6"/>
          <p:cNvSpPr/>
          <p:nvPr/>
        </p:nvSpPr>
        <p:spPr>
          <a:xfrm>
            <a:off x="640080" y="3322320"/>
            <a:ext cx="457200" cy="457200"/>
          </a:xfrm>
          <a:prstGeom prst="ellipse">
            <a:avLst/>
          </a:prstGeom>
          <a:solidFill>
            <a:srgbClr val="B1E882"/>
          </a:solidFill>
          <a:ln/>
        </p:spPr>
      </p:sp>
      <p:sp>
        <p:nvSpPr>
          <p:cNvPr id="9" name="Text 7"/>
          <p:cNvSpPr/>
          <p:nvPr/>
        </p:nvSpPr>
        <p:spPr>
          <a:xfrm>
            <a:off x="640080" y="332232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2</a:t>
            </a:r>
            <a:endParaRPr lang="en-US" sz="1700" dirty="0"/>
          </a:p>
        </p:txBody>
      </p:sp>
      <p:sp>
        <p:nvSpPr>
          <p:cNvPr id="10" name="Text 8"/>
          <p:cNvSpPr/>
          <p:nvPr/>
        </p:nvSpPr>
        <p:spPr>
          <a:xfrm>
            <a:off x="1280160" y="326745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Formulas, with AI as your formula writer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Variance %, dynamic arrays, fixing errors</a:t>
            </a:r>
            <a:endParaRPr lang="en-US" sz="1600" dirty="0"/>
          </a:p>
        </p:txBody>
      </p:sp>
      <p:sp>
        <p:nvSpPr>
          <p:cNvPr id="11" name="Shape 9"/>
          <p:cNvSpPr/>
          <p:nvPr/>
        </p:nvSpPr>
        <p:spPr>
          <a:xfrm>
            <a:off x="640080" y="4678680"/>
            <a:ext cx="457200" cy="457200"/>
          </a:xfrm>
          <a:prstGeom prst="ellipse">
            <a:avLst/>
          </a:prstGeom>
          <a:solidFill>
            <a:srgbClr val="B1E882"/>
          </a:solidFill>
          <a:ln/>
        </p:spPr>
      </p:sp>
      <p:sp>
        <p:nvSpPr>
          <p:cNvPr id="12" name="Text 10"/>
          <p:cNvSpPr/>
          <p:nvPr/>
        </p:nvSpPr>
        <p:spPr>
          <a:xfrm>
            <a:off x="640080" y="467868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3</a:t>
            </a:r>
            <a:endParaRPr lang="en-US" sz="1700" dirty="0"/>
          </a:p>
        </p:txBody>
      </p:sp>
      <p:sp>
        <p:nvSpPr>
          <p:cNvPr id="13" name="Text 11"/>
          <p:cNvSpPr/>
          <p:nvPr/>
        </p:nvSpPr>
        <p:spPr>
          <a:xfrm>
            <a:off x="1280160" y="462381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Asking better questions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Prompt patterns that get usable Excel answers</a:t>
            </a:r>
            <a:endParaRPr lang="en-US" sz="1600" dirty="0"/>
          </a:p>
        </p:txBody>
      </p:sp>
      <p:sp>
        <p:nvSpPr>
          <p:cNvPr id="14" name="Shape 12"/>
          <p:cNvSpPr/>
          <p:nvPr/>
        </p:nvSpPr>
        <p:spPr>
          <a:xfrm>
            <a:off x="6217920" y="1965960"/>
            <a:ext cx="457200" cy="457200"/>
          </a:xfrm>
          <a:prstGeom prst="ellipse">
            <a:avLst/>
          </a:prstGeom>
          <a:solidFill>
            <a:srgbClr val="B1E882"/>
          </a:solidFill>
          <a:ln/>
        </p:spPr>
      </p:sp>
      <p:sp>
        <p:nvSpPr>
          <p:cNvPr id="15" name="Text 13"/>
          <p:cNvSpPr/>
          <p:nvPr/>
        </p:nvSpPr>
        <p:spPr>
          <a:xfrm>
            <a:off x="6217920" y="196596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4</a:t>
            </a:r>
            <a:endParaRPr lang="en-US" sz="1700" dirty="0"/>
          </a:p>
        </p:txBody>
      </p:sp>
      <p:sp>
        <p:nvSpPr>
          <p:cNvPr id="16" name="Text 14"/>
          <p:cNvSpPr/>
          <p:nvPr/>
        </p:nvSpPr>
        <p:spPr>
          <a:xfrm>
            <a:off x="6858000" y="191109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Python in Excel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Grouping, stats, and a chart — in one cell</a:t>
            </a:r>
            <a:endParaRPr lang="en-US" sz="1600" dirty="0"/>
          </a:p>
        </p:txBody>
      </p:sp>
      <p:sp>
        <p:nvSpPr>
          <p:cNvPr id="17" name="Shape 15"/>
          <p:cNvSpPr/>
          <p:nvPr/>
        </p:nvSpPr>
        <p:spPr>
          <a:xfrm>
            <a:off x="6217920" y="3322320"/>
            <a:ext cx="457200" cy="457200"/>
          </a:xfrm>
          <a:prstGeom prst="ellipse">
            <a:avLst/>
          </a:prstGeom>
          <a:solidFill>
            <a:srgbClr val="B1E882"/>
          </a:solidFill>
          <a:ln/>
        </p:spPr>
      </p:sp>
      <p:sp>
        <p:nvSpPr>
          <p:cNvPr id="18" name="Text 16"/>
          <p:cNvSpPr/>
          <p:nvPr/>
        </p:nvSpPr>
        <p:spPr>
          <a:xfrm>
            <a:off x="6217920" y="332232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5</a:t>
            </a:r>
            <a:endParaRPr lang="en-US" sz="1700" dirty="0"/>
          </a:p>
        </p:txBody>
      </p:sp>
      <p:sp>
        <p:nvSpPr>
          <p:cNvPr id="19" name="Text 17"/>
          <p:cNvSpPr/>
          <p:nvPr/>
        </p:nvSpPr>
        <p:spPr>
          <a:xfrm>
            <a:off x="6858000" y="326745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Copilot in Excel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Summaries, pivots, and charts on a clean Table</a:t>
            </a:r>
            <a:endParaRPr lang="en-US" sz="1600" dirty="0"/>
          </a:p>
        </p:txBody>
      </p:sp>
      <p:sp>
        <p:nvSpPr>
          <p:cNvPr id="20" name="Shape 18"/>
          <p:cNvSpPr/>
          <p:nvPr/>
        </p:nvSpPr>
        <p:spPr>
          <a:xfrm>
            <a:off x="6217920" y="4678680"/>
            <a:ext cx="457200" cy="457200"/>
          </a:xfrm>
          <a:prstGeom prst="ellipse">
            <a:avLst/>
          </a:prstGeom>
          <a:solidFill>
            <a:srgbClr val="B1E882"/>
          </a:solidFill>
          <a:ln/>
        </p:spPr>
      </p:sp>
      <p:sp>
        <p:nvSpPr>
          <p:cNvPr id="21" name="Text 19"/>
          <p:cNvSpPr/>
          <p:nvPr/>
        </p:nvSpPr>
        <p:spPr>
          <a:xfrm>
            <a:off x="6217920" y="4678680"/>
            <a:ext cx="457200" cy="457200"/>
          </a:xfrm>
          <a:prstGeom prst="rect">
            <a:avLst/>
          </a:prstGeom>
          <a:noFill/>
          <a:ln/>
        </p:spPr>
        <p:txBody>
          <a:bodyPr wrap="square" lIns="0" tIns="0" rIns="0" bIns="0" rtlCol="0" anchor="ctr"/>
          <a:lstStyle/>
          <a:p>
            <a:pPr algn="ctr" indent="0" marL="0">
              <a:buNone/>
            </a:pPr>
            <a:r>
              <a:rPr lang="en-US" sz="1700" b="1" dirty="0">
                <a:solidFill>
                  <a:srgbClr val="101110"/>
                </a:solidFill>
                <a:latin typeface="Inter" pitchFamily="34" charset="0"/>
                <a:ea typeface="Inter" pitchFamily="34" charset="-122"/>
                <a:cs typeface="Inter" pitchFamily="34" charset="-120"/>
              </a:rPr>
              <a:t>6</a:t>
            </a:r>
            <a:endParaRPr lang="en-US" sz="1700" dirty="0"/>
          </a:p>
        </p:txBody>
      </p:sp>
      <p:sp>
        <p:nvSpPr>
          <p:cNvPr id="22" name="Text 20"/>
          <p:cNvSpPr/>
          <p:nvPr/>
        </p:nvSpPr>
        <p:spPr>
          <a:xfrm>
            <a:off x="6858000" y="4623816"/>
            <a:ext cx="4754880" cy="1264920"/>
          </a:xfrm>
          <a:prstGeom prst="rect">
            <a:avLst/>
          </a:prstGeom>
          <a:noFill/>
          <a:ln/>
        </p:spPr>
        <p:txBody>
          <a:bodyPr wrap="square" lIns="0" tIns="0" rIns="0" bIns="0" rtlCol="0" anchor="t"/>
          <a:lstStyle/>
          <a:p>
            <a:pPr indent="0" marL="0">
              <a:lnSpc>
                <a:spcPct val="105000"/>
              </a:lnSpc>
              <a:buNone/>
            </a:pPr>
            <a:r>
              <a:rPr lang="en-US" sz="1600" b="1" dirty="0">
                <a:solidFill>
                  <a:srgbClr val="101110"/>
                </a:solidFill>
                <a:latin typeface="Inter" pitchFamily="34" charset="0"/>
                <a:ea typeface="Inter" pitchFamily="34" charset="-122"/>
                <a:cs typeface="Inter" pitchFamily="34" charset="-120"/>
              </a:rPr>
              <a:t>Which tool when? + assignment
</a:t>
            </a:r>
            <a:pPr indent="0" marL="0">
              <a:lnSpc>
                <a:spcPct val="105000"/>
              </a:lnSpc>
              <a:buNone/>
            </a:pPr>
            <a:r>
              <a:rPr lang="en-US" sz="1150" dirty="0">
                <a:solidFill>
                  <a:srgbClr val="6B6F6B"/>
                </a:solidFill>
                <a:latin typeface="Inter" pitchFamily="34" charset="0"/>
                <a:ea typeface="Inter" pitchFamily="34" charset="-122"/>
                <a:cs typeface="Inter" pitchFamily="34" charset="-120"/>
              </a:rPr>
              <a:t>A decision rule you can actually remember</a:t>
            </a:r>
            <a:endParaRPr lang="en-US" sz="1600" dirty="0"/>
          </a:p>
        </p:txBody>
      </p:sp>
      <p:sp>
        <p:nvSpPr>
          <p:cNvPr id="23" name="Text 2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1</a:t>
            </a:r>
            <a:endParaRPr lang="en-US" sz="1000" dirty="0"/>
          </a:p>
        </p:txBody>
      </p:sp>
      <p:sp>
        <p:nvSpPr>
          <p:cNvPr id="24" name="Text 2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2418588"/>
            <a:ext cx="146304" cy="146304"/>
          </a:xfrm>
          <a:prstGeom prst="roundRect">
            <a:avLst>
              <a:gd name="adj" fmla="val 25000"/>
            </a:avLst>
          </a:prstGeom>
          <a:solidFill>
            <a:srgbClr val="B1E882"/>
          </a:solidFill>
          <a:ln/>
        </p:spPr>
      </p:sp>
      <p:sp>
        <p:nvSpPr>
          <p:cNvPr id="5" name="Text 3"/>
          <p:cNvSpPr/>
          <p:nvPr/>
        </p:nvSpPr>
        <p:spPr>
          <a:xfrm>
            <a:off x="877824" y="2377440"/>
            <a:ext cx="8229600" cy="256032"/>
          </a:xfrm>
          <a:prstGeom prst="rect">
            <a:avLst/>
          </a:prstGeom>
          <a:noFill/>
          <a:ln/>
        </p:spPr>
        <p:txBody>
          <a:bodyPr wrap="square" lIns="0" tIns="0" rIns="0" bIns="0" rtlCol="0" anchor="ctr"/>
          <a:lstStyle/>
          <a:p>
            <a:pPr indent="0" marL="0">
              <a:buNone/>
            </a:pPr>
            <a:r>
              <a:rPr lang="en-US" sz="1200" b="1" spc="200" kern="0" dirty="0">
                <a:solidFill>
                  <a:srgbClr val="B1E882"/>
                </a:solidFill>
                <a:latin typeface="Inter" pitchFamily="34" charset="0"/>
                <a:ea typeface="Inter" pitchFamily="34" charset="-122"/>
                <a:cs typeface="Inter" pitchFamily="34" charset="-120"/>
              </a:rPr>
              <a:t>OUR QUESTION ALL SESSION</a:t>
            </a:r>
            <a:endParaRPr lang="en-US" sz="1200" dirty="0"/>
          </a:p>
        </p:txBody>
      </p:sp>
      <p:sp>
        <p:nvSpPr>
          <p:cNvPr id="6" name="Text 4"/>
          <p:cNvSpPr/>
          <p:nvPr/>
        </p:nvSpPr>
        <p:spPr>
          <a:xfrm>
            <a:off x="640080" y="2743200"/>
            <a:ext cx="10607040" cy="237744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Inter" pitchFamily="34" charset="0"/>
                <a:ea typeface="Inter" pitchFamily="34" charset="-122"/>
                <a:cs typeface="Inter" pitchFamily="34" charset="-120"/>
              </a:rPr>
              <a:t>“Which departments ran over budget — and by how much?”  We'll answer it three ways and compare.</a:t>
            </a:r>
            <a:endParaRPr lang="en-US" sz="3400" dirty="0"/>
          </a:p>
        </p:txBody>
      </p:sp>
      <p:sp>
        <p:nvSpPr>
          <p:cNvPr id="7" name="Text 5"/>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7A7E78"/>
                </a:solidFill>
                <a:latin typeface="Inter" pitchFamily="34" charset="0"/>
                <a:ea typeface="Inter" pitchFamily="34" charset="-122"/>
                <a:cs typeface="Inter" pitchFamily="34" charset="-120"/>
              </a:rPr>
              <a:t>2</a:t>
            </a:r>
            <a:endParaRPr lang="en-US" sz="1000" dirty="0"/>
          </a:p>
        </p:txBody>
      </p:sp>
      <p:sp>
        <p:nvSpPr>
          <p:cNvPr id="8" name="Text 6"/>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7A7E78"/>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THREE ROADS</a:t>
            </a:r>
            <a:endParaRPr lang="en-US" sz="1200" dirty="0"/>
          </a:p>
        </p:txBody>
      </p:sp>
      <p:sp>
        <p:nvSpPr>
          <p:cNvPr id="6" name="Text 4"/>
          <p:cNvSpPr/>
          <p:nvPr/>
        </p:nvSpPr>
        <p:spPr>
          <a:xfrm>
            <a:off x="640080" y="123444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Same question, three tools</a:t>
            </a:r>
            <a:endParaRPr lang="en-US" sz="3000" dirty="0"/>
          </a:p>
        </p:txBody>
      </p:sp>
      <p:sp>
        <p:nvSpPr>
          <p:cNvPr id="7" name="Shape 5"/>
          <p:cNvSpPr/>
          <p:nvPr/>
        </p:nvSpPr>
        <p:spPr>
          <a:xfrm>
            <a:off x="640080" y="237744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8" name="Shape 6"/>
          <p:cNvSpPr/>
          <p:nvPr/>
        </p:nvSpPr>
        <p:spPr>
          <a:xfrm>
            <a:off x="914400" y="2651760"/>
            <a:ext cx="502920" cy="502920"/>
          </a:xfrm>
          <a:prstGeom prst="roundRect">
            <a:avLst>
              <a:gd name="adj" fmla="val 23636"/>
            </a:avLst>
          </a:prstGeom>
          <a:solidFill>
            <a:srgbClr val="B1E882"/>
          </a:solidFill>
          <a:ln/>
        </p:spPr>
      </p:sp>
      <p:sp>
        <p:nvSpPr>
          <p:cNvPr id="9" name="Text 7"/>
          <p:cNvSpPr/>
          <p:nvPr/>
        </p:nvSpPr>
        <p:spPr>
          <a:xfrm>
            <a:off x="914400" y="265176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fx</a:t>
            </a:r>
            <a:endParaRPr lang="en-US" sz="1800" dirty="0"/>
          </a:p>
        </p:txBody>
      </p:sp>
      <p:sp>
        <p:nvSpPr>
          <p:cNvPr id="10" name="Text 8"/>
          <p:cNvSpPr/>
          <p:nvPr/>
        </p:nvSpPr>
        <p:spPr>
          <a:xfrm>
            <a:off x="914400" y="329184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Formulas</a:t>
            </a:r>
            <a:endParaRPr lang="en-US" sz="1550" dirty="0"/>
          </a:p>
        </p:txBody>
      </p:sp>
      <p:sp>
        <p:nvSpPr>
          <p:cNvPr id="11" name="Text 9"/>
          <p:cNvSpPr/>
          <p:nvPr/>
        </p:nvSpPr>
        <p:spPr>
          <a:xfrm>
            <a:off x="914400" y="374904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Best for a quick variance column or a single lookup. Let AI draft and EXPLAIN the formula; you keep control of the logic.</a:t>
            </a:r>
            <a:endParaRPr lang="en-US" sz="1200" dirty="0"/>
          </a:p>
        </p:txBody>
      </p:sp>
      <p:sp>
        <p:nvSpPr>
          <p:cNvPr id="12" name="Shape 10"/>
          <p:cNvSpPr/>
          <p:nvPr/>
        </p:nvSpPr>
        <p:spPr>
          <a:xfrm>
            <a:off x="6278728" y="237744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3" name="Shape 11"/>
          <p:cNvSpPr/>
          <p:nvPr/>
        </p:nvSpPr>
        <p:spPr>
          <a:xfrm>
            <a:off x="6553048" y="2651760"/>
            <a:ext cx="502920" cy="502920"/>
          </a:xfrm>
          <a:prstGeom prst="roundRect">
            <a:avLst>
              <a:gd name="adj" fmla="val 23636"/>
            </a:avLst>
          </a:prstGeom>
          <a:solidFill>
            <a:srgbClr val="B1E882"/>
          </a:solidFill>
          <a:ln/>
        </p:spPr>
      </p:sp>
      <p:sp>
        <p:nvSpPr>
          <p:cNvPr id="14" name="Text 12"/>
          <p:cNvSpPr/>
          <p:nvPr/>
        </p:nvSpPr>
        <p:spPr>
          <a:xfrm>
            <a:off x="6553048" y="265176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PY</a:t>
            </a:r>
            <a:endParaRPr lang="en-US" sz="1800" dirty="0"/>
          </a:p>
        </p:txBody>
      </p:sp>
      <p:sp>
        <p:nvSpPr>
          <p:cNvPr id="15" name="Text 13"/>
          <p:cNvSpPr/>
          <p:nvPr/>
        </p:nvSpPr>
        <p:spPr>
          <a:xfrm>
            <a:off x="6553048" y="329184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Python in Excel</a:t>
            </a:r>
            <a:endParaRPr lang="en-US" sz="1550" dirty="0"/>
          </a:p>
        </p:txBody>
      </p:sp>
      <p:sp>
        <p:nvSpPr>
          <p:cNvPr id="16" name="Text 14"/>
          <p:cNvSpPr/>
          <p:nvPr/>
        </p:nvSpPr>
        <p:spPr>
          <a:xfrm>
            <a:off x="6553048" y="374904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Best when you want grouping + stats + a chart together, or when nested formulas would get ugly. Stays in the grid.</a:t>
            </a:r>
            <a:endParaRPr lang="en-US" sz="1200" dirty="0"/>
          </a:p>
        </p:txBody>
      </p:sp>
      <p:sp>
        <p:nvSpPr>
          <p:cNvPr id="17" name="Shape 15"/>
          <p:cNvSpPr/>
          <p:nvPr/>
        </p:nvSpPr>
        <p:spPr>
          <a:xfrm>
            <a:off x="640080" y="4411980"/>
            <a:ext cx="5272888" cy="1668780"/>
          </a:xfrm>
          <a:prstGeom prst="roundRect">
            <a:avLst>
              <a:gd name="adj" fmla="val 7671"/>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8" name="Shape 16"/>
          <p:cNvSpPr/>
          <p:nvPr/>
        </p:nvSpPr>
        <p:spPr>
          <a:xfrm>
            <a:off x="914400" y="4686300"/>
            <a:ext cx="502920" cy="502920"/>
          </a:xfrm>
          <a:prstGeom prst="roundRect">
            <a:avLst>
              <a:gd name="adj" fmla="val 23636"/>
            </a:avLst>
          </a:prstGeom>
          <a:solidFill>
            <a:srgbClr val="B1E882"/>
          </a:solidFill>
          <a:ln/>
        </p:spPr>
      </p:sp>
      <p:sp>
        <p:nvSpPr>
          <p:cNvPr id="19" name="Text 17"/>
          <p:cNvSpPr/>
          <p:nvPr/>
        </p:nvSpPr>
        <p:spPr>
          <a:xfrm>
            <a:off x="914400" y="4686300"/>
            <a:ext cx="502920" cy="502920"/>
          </a:xfrm>
          <a:prstGeom prst="rect">
            <a:avLst/>
          </a:prstGeom>
          <a:noFill/>
          <a:ln/>
        </p:spPr>
        <p:txBody>
          <a:bodyPr wrap="square" lIns="0" tIns="0" rIns="0" bIns="0" rtlCol="0" anchor="ctr"/>
          <a:lstStyle/>
          <a:p>
            <a:pPr algn="ctr" indent="0" marL="0">
              <a:buNone/>
            </a:pPr>
            <a:r>
              <a:rPr lang="en-US" sz="1800" b="1" dirty="0">
                <a:solidFill>
                  <a:srgbClr val="101110"/>
                </a:solidFill>
                <a:latin typeface="Inter" pitchFamily="34" charset="0"/>
                <a:ea typeface="Inter" pitchFamily="34" charset="-122"/>
                <a:cs typeface="Inter" pitchFamily="34" charset="-120"/>
              </a:rPr>
              <a:t>C</a:t>
            </a:r>
            <a:endParaRPr lang="en-US" sz="1800" dirty="0"/>
          </a:p>
        </p:txBody>
      </p:sp>
      <p:sp>
        <p:nvSpPr>
          <p:cNvPr id="20" name="Text 18"/>
          <p:cNvSpPr/>
          <p:nvPr/>
        </p:nvSpPr>
        <p:spPr>
          <a:xfrm>
            <a:off x="914400" y="5326380"/>
            <a:ext cx="4724248" cy="457200"/>
          </a:xfrm>
          <a:prstGeom prst="rect">
            <a:avLst/>
          </a:prstGeom>
          <a:noFill/>
          <a:ln/>
        </p:spPr>
        <p:txBody>
          <a:bodyPr wrap="square" lIns="0" tIns="0" rIns="0" bIns="0" rtlCol="0" anchor="ctr"/>
          <a:lstStyle/>
          <a:p>
            <a:pPr indent="0" marL="0">
              <a:buNone/>
            </a:pPr>
            <a:r>
              <a:rPr lang="en-US" sz="1550" b="1" dirty="0">
                <a:solidFill>
                  <a:srgbClr val="101110"/>
                </a:solidFill>
                <a:latin typeface="Inter" pitchFamily="34" charset="0"/>
                <a:ea typeface="Inter" pitchFamily="34" charset="-122"/>
                <a:cs typeface="Inter" pitchFamily="34" charset="-120"/>
              </a:rPr>
              <a:t>Copilot in Excel</a:t>
            </a:r>
            <a:endParaRPr lang="en-US" sz="1550" dirty="0"/>
          </a:p>
        </p:txBody>
      </p:sp>
      <p:sp>
        <p:nvSpPr>
          <p:cNvPr id="21" name="Text 19"/>
          <p:cNvSpPr/>
          <p:nvPr/>
        </p:nvSpPr>
        <p:spPr>
          <a:xfrm>
            <a:off x="914400" y="5783580"/>
            <a:ext cx="4724248" cy="114300"/>
          </a:xfrm>
          <a:prstGeom prst="rect">
            <a:avLst/>
          </a:prstGeom>
          <a:noFill/>
          <a:ln/>
        </p:spPr>
        <p:txBody>
          <a:bodyPr wrap="square" lIns="0" tIns="0" rIns="0" bIns="0" rtlCol="0" anchor="t"/>
          <a:lstStyle/>
          <a:p>
            <a:pPr indent="0" marL="0">
              <a:lnSpc>
                <a:spcPct val="115000"/>
              </a:lnSpc>
              <a:buNone/>
            </a:pPr>
            <a:r>
              <a:rPr lang="en-US" sz="1200" dirty="0">
                <a:solidFill>
                  <a:srgbClr val="3A3D38"/>
                </a:solidFill>
                <a:latin typeface="Inter" pitchFamily="34" charset="0"/>
                <a:ea typeface="Inter" pitchFamily="34" charset="-122"/>
                <a:cs typeface="Inter" pitchFamily="34" charset="-120"/>
              </a:rPr>
              <a:t>Best for 'summarize this' / 'make me a pivot or chart' on a clean Table. Fastest path — verify the details.</a:t>
            </a:r>
            <a:endParaRPr lang="en-US" sz="1200" dirty="0"/>
          </a:p>
        </p:txBody>
      </p:sp>
      <p:sp>
        <p:nvSpPr>
          <p:cNvPr id="22" name="Text 20"/>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188720"/>
            <a:ext cx="1828800" cy="457200"/>
          </a:xfrm>
          <a:prstGeom prst="roundRect">
            <a:avLst>
              <a:gd name="adj" fmla="val 24000"/>
            </a:avLst>
          </a:prstGeom>
          <a:solidFill>
            <a:srgbClr val="B1E882"/>
          </a:solidFill>
          <a:ln/>
        </p:spPr>
      </p:sp>
      <p:sp>
        <p:nvSpPr>
          <p:cNvPr id="5" name="Text 3"/>
          <p:cNvSpPr/>
          <p:nvPr/>
        </p:nvSpPr>
        <p:spPr>
          <a:xfrm>
            <a:off x="640080" y="1188720"/>
            <a:ext cx="1828800" cy="457200"/>
          </a:xfrm>
          <a:prstGeom prst="rect">
            <a:avLst/>
          </a:prstGeom>
          <a:noFill/>
          <a:ln/>
        </p:spPr>
        <p:txBody>
          <a:bodyPr wrap="square" lIns="0" tIns="0" rIns="0" bIns="0" rtlCol="0" anchor="ctr"/>
          <a:lstStyle/>
          <a:p>
            <a:pPr algn="ctr" indent="0" marL="0">
              <a:buNone/>
            </a:pPr>
            <a:r>
              <a:rPr lang="en-US" sz="1300" b="1" spc="200" kern="0" dirty="0">
                <a:solidFill>
                  <a:srgbClr val="101110"/>
                </a:solidFill>
                <a:latin typeface="Inter" pitchFamily="34" charset="0"/>
                <a:ea typeface="Inter" pitchFamily="34" charset="-122"/>
                <a:cs typeface="Inter" pitchFamily="34" charset="-120"/>
              </a:rPr>
              <a:t>LIVE DEMO</a:t>
            </a:r>
            <a:endParaRPr lang="en-US" sz="1300" dirty="0"/>
          </a:p>
        </p:txBody>
      </p:sp>
      <p:sp>
        <p:nvSpPr>
          <p:cNvPr id="6" name="Text 4"/>
          <p:cNvSpPr/>
          <p:nvPr/>
        </p:nvSpPr>
        <p:spPr>
          <a:xfrm>
            <a:off x="640080" y="1874520"/>
            <a:ext cx="10424160" cy="914400"/>
          </a:xfrm>
          <a:prstGeom prst="rect">
            <a:avLst/>
          </a:prstGeom>
          <a:noFill/>
          <a:ln/>
        </p:spPr>
        <p:txBody>
          <a:bodyPr wrap="square" lIns="0" tIns="0" rIns="0" bIns="0" rtlCol="0" anchor="ctr"/>
          <a:lstStyle/>
          <a:p>
            <a:pPr indent="0" marL="0">
              <a:buNone/>
            </a:pPr>
            <a:r>
              <a:rPr lang="en-US" sz="3200" b="1" dirty="0">
                <a:solidFill>
                  <a:srgbClr val="FFFFFF"/>
                </a:solidFill>
                <a:latin typeface="Inter" pitchFamily="34" charset="0"/>
                <a:ea typeface="Inter" pitchFamily="34" charset="-122"/>
                <a:cs typeface="Inter" pitchFamily="34" charset="-120"/>
              </a:rPr>
              <a:t>Road 1 — Formulas, with AI doing the typing</a:t>
            </a:r>
            <a:endParaRPr lang="en-US" sz="3200" dirty="0"/>
          </a:p>
        </p:txBody>
      </p:sp>
      <p:sp>
        <p:nvSpPr>
          <p:cNvPr id="7" name="Text 5"/>
          <p:cNvSpPr/>
          <p:nvPr/>
        </p:nvSpPr>
        <p:spPr>
          <a:xfrm>
            <a:off x="640080" y="2743200"/>
            <a:ext cx="10058400" cy="457200"/>
          </a:xfrm>
          <a:prstGeom prst="rect">
            <a:avLst/>
          </a:prstGeom>
          <a:noFill/>
          <a:ln/>
        </p:spPr>
        <p:txBody>
          <a:bodyPr wrap="square" lIns="0" tIns="0" rIns="0" bIns="0" rtlCol="0" anchor="ctr"/>
          <a:lstStyle/>
          <a:p>
            <a:pPr indent="0" marL="0">
              <a:buNone/>
            </a:pPr>
            <a:r>
              <a:rPr lang="en-US" sz="1500" dirty="0">
                <a:solidFill>
                  <a:srgbClr val="B9BDB6"/>
                </a:solidFill>
                <a:latin typeface="Inter" pitchFamily="34" charset="0"/>
                <a:ea typeface="Inter" pitchFamily="34" charset="-122"/>
                <a:cs typeface="Inter" pitchFamily="34" charset="-120"/>
              </a:rPr>
              <a:t>Table: BudgetActual in budget-vs-actual.xlsx</a:t>
            </a:r>
            <a:endParaRPr lang="en-US" sz="1500" dirty="0"/>
          </a:p>
        </p:txBody>
      </p:sp>
      <p:sp>
        <p:nvSpPr>
          <p:cNvPr id="8" name="Text 6"/>
          <p:cNvSpPr/>
          <p:nvPr/>
        </p:nvSpPr>
        <p:spPr>
          <a:xfrm>
            <a:off x="640080" y="3383280"/>
            <a:ext cx="10424160" cy="2926080"/>
          </a:xfrm>
          <a:prstGeom prst="rect">
            <a:avLst/>
          </a:prstGeom>
          <a:noFill/>
          <a:ln/>
        </p:spPr>
        <p:txBody>
          <a:bodyPr wrap="square" lIns="0" tIns="0" rIns="0" bIns="0" rtlCol="0" anchor="t"/>
          <a:lstStyle/>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1.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Add Variance = [@Actual] - [@Budget] and Variance % = ([@Actual]-[@Budget])/[@Budget].</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2.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Ask AI: 'write a structured-reference variance % that's positive when Actual exceeds Budget.'</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3.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Roll up by department with one dynamic array: SORT(GROUPBY(...)) — or SUMIFS if GROUPBY isn't in your build.</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4.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Ask AI to 'explain this formula step by step' — learn the spilled range safely.</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5.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Troubleshoot live: paste a broken SUMIF (4 args) and let AI diagnose it.</a:t>
            </a:r>
            <a:endParaRPr lang="en-US" sz="1500" dirty="0"/>
          </a:p>
        </p:txBody>
      </p:sp>
      <p:sp>
        <p:nvSpPr>
          <p:cNvPr id="9" name="Text 7"/>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7A7E78"/>
                </a:solidFill>
                <a:latin typeface="Inter" pitchFamily="34" charset="0"/>
                <a:ea typeface="Inter" pitchFamily="34" charset="-122"/>
                <a:cs typeface="Inter" pitchFamily="34" charset="-120"/>
              </a:rPr>
              <a:t>4</a:t>
            </a:r>
            <a:endParaRPr lang="en-US" sz="1000" dirty="0"/>
          </a:p>
        </p:txBody>
      </p:sp>
      <p:sp>
        <p:nvSpPr>
          <p:cNvPr id="10" name="Text 8"/>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7A7E78"/>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PROMPTING</a:t>
            </a:r>
            <a:endParaRPr lang="en-US" sz="1200" dirty="0"/>
          </a:p>
        </p:txBody>
      </p:sp>
      <p:sp>
        <p:nvSpPr>
          <p:cNvPr id="6" name="Text 4"/>
          <p:cNvSpPr/>
          <p:nvPr/>
        </p:nvSpPr>
        <p:spPr>
          <a:xfrm>
            <a:off x="640080" y="1234440"/>
            <a:ext cx="6766560" cy="914400"/>
          </a:xfrm>
          <a:prstGeom prst="rect">
            <a:avLst/>
          </a:prstGeom>
          <a:noFill/>
          <a:ln/>
        </p:spPr>
        <p:txBody>
          <a:bodyPr wrap="square" lIns="0" tIns="0" rIns="0" bIns="0" rtlCol="0" anchor="ctr"/>
          <a:lstStyle/>
          <a:p>
            <a:pPr indent="0" marL="0">
              <a:lnSpc>
                <a:spcPct val="100000"/>
              </a:lnSpc>
              <a:buNone/>
            </a:pPr>
            <a:r>
              <a:rPr lang="en-US" sz="3000" b="1" dirty="0">
                <a:solidFill>
                  <a:srgbClr val="101110"/>
                </a:solidFill>
                <a:latin typeface="Inter" pitchFamily="34" charset="0"/>
                <a:ea typeface="Inter" pitchFamily="34" charset="-122"/>
                <a:cs typeface="Inter" pitchFamily="34" charset="-120"/>
              </a:rPr>
              <a:t>Ask better questions, get usable answers</a:t>
            </a:r>
            <a:endParaRPr lang="en-US" sz="3000" dirty="0"/>
          </a:p>
        </p:txBody>
      </p:sp>
      <p:sp>
        <p:nvSpPr>
          <p:cNvPr id="7" name="Text 5"/>
          <p:cNvSpPr/>
          <p:nvPr/>
        </p:nvSpPr>
        <p:spPr>
          <a:xfrm>
            <a:off x="640080" y="2286000"/>
            <a:ext cx="6583680" cy="3840480"/>
          </a:xfrm>
          <a:prstGeom prst="rect">
            <a:avLst/>
          </a:prstGeom>
          <a:noFill/>
          <a:ln/>
        </p:spPr>
        <p:txBody>
          <a:bodyPr wrap="square" lIns="0" tIns="0" rIns="0" bIns="0" rtlCol="0" anchor="t"/>
          <a:lstStyle/>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Give it the shape of your data</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“In a Table named BudgetActual with columns Budget and Actual…” beats “write a formula.”</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Say what 'good' looks like</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“…positive when Actual exceeds Budget, formatted as a percent.” Constraints reduce guesswork.</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Ask it to explain, not just produce</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“Explain this step by step” turns AI into a tutor and catches mistakes early.</a:t>
            </a:r>
            <a:endParaRPr lang="en-US" sz="1600" dirty="0"/>
          </a:p>
          <a:p>
            <a:pPr marL="228600" indent="-228600">
              <a:lnSpc>
                <a:spcPct val="108000"/>
              </a:lnSpc>
              <a:spcAft>
                <a:spcPts val="200"/>
              </a:spcAft>
              <a:buSzPct val="100000"/>
              <a:buChar char="•"/>
            </a:pPr>
            <a:r>
              <a:rPr lang="en-US" sz="1600" b="1" dirty="0">
                <a:solidFill>
                  <a:srgbClr val="101110"/>
                </a:solidFill>
                <a:latin typeface="Inter" pitchFamily="34" charset="0"/>
                <a:ea typeface="Inter" pitchFamily="34" charset="-122"/>
                <a:cs typeface="Inter" pitchFamily="34" charset="-120"/>
              </a:rPr>
              <a:t>Paste the error, not a paraphrase</a:t>
            </a:r>
            <a:endParaRPr lang="en-US" sz="1600" dirty="0"/>
          </a:p>
          <a:p>
            <a:pPr lvl="1" indent="0" marL="0">
              <a:lnSpc>
                <a:spcPct val="108000"/>
              </a:lnSpc>
              <a:spcAft>
                <a:spcPts val="1000"/>
              </a:spcAft>
              <a:buNone/>
            </a:pPr>
            <a:r>
              <a:rPr lang="en-US" sz="1300" dirty="0">
                <a:solidFill>
                  <a:srgbClr val="6B6F6B"/>
                </a:solidFill>
                <a:latin typeface="Inter" pitchFamily="34" charset="0"/>
                <a:ea typeface="Inter" pitchFamily="34" charset="-122"/>
                <a:cs typeface="Inter" pitchFamily="34" charset="-120"/>
              </a:rPr>
              <a:t>Copy the literal #VALUE!/#SPILL! and the formula. AI is excellent at decoding errors.</a:t>
            </a:r>
            <a:endParaRPr lang="en-US" sz="1600" dirty="0"/>
          </a:p>
        </p:txBody>
      </p:sp>
      <p:sp>
        <p:nvSpPr>
          <p:cNvPr id="8" name="Shape 6"/>
          <p:cNvSpPr/>
          <p:nvPr/>
        </p:nvSpPr>
        <p:spPr>
          <a:xfrm>
            <a:off x="7589520" y="2240280"/>
            <a:ext cx="3931920" cy="3566160"/>
          </a:xfrm>
          <a:prstGeom prst="roundRect">
            <a:avLst>
              <a:gd name="adj" fmla="val 4103"/>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7863840" y="2555748"/>
            <a:ext cx="146304" cy="146304"/>
          </a:xfrm>
          <a:prstGeom prst="roundRect">
            <a:avLst>
              <a:gd name="adj" fmla="val 25000"/>
            </a:avLst>
          </a:prstGeom>
          <a:solidFill>
            <a:srgbClr val="B1E882"/>
          </a:solidFill>
          <a:ln/>
        </p:spPr>
      </p:sp>
      <p:sp>
        <p:nvSpPr>
          <p:cNvPr id="10" name="Text 8"/>
          <p:cNvSpPr/>
          <p:nvPr/>
        </p:nvSpPr>
        <p:spPr>
          <a:xfrm>
            <a:off x="8101584" y="25146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PATTERN</a:t>
            </a:r>
            <a:endParaRPr lang="en-US" sz="1200" dirty="0"/>
          </a:p>
        </p:txBody>
      </p:sp>
      <p:sp>
        <p:nvSpPr>
          <p:cNvPr id="11" name="Text 9"/>
          <p:cNvSpPr/>
          <p:nvPr/>
        </p:nvSpPr>
        <p:spPr>
          <a:xfrm>
            <a:off x="7863840" y="2880360"/>
            <a:ext cx="3383280" cy="731520"/>
          </a:xfrm>
          <a:prstGeom prst="rect">
            <a:avLst/>
          </a:prstGeom>
          <a:noFill/>
          <a:ln/>
        </p:spPr>
        <p:txBody>
          <a:bodyPr wrap="square" lIns="0" tIns="0" rIns="0" bIns="0" rtlCol="0" anchor="ctr"/>
          <a:lstStyle/>
          <a:p>
            <a:pPr indent="0" marL="0">
              <a:buNone/>
            </a:pPr>
            <a:r>
              <a:rPr lang="en-US" sz="1600" b="1" dirty="0">
                <a:solidFill>
                  <a:srgbClr val="101110"/>
                </a:solidFill>
                <a:latin typeface="Inter" pitchFamily="34" charset="0"/>
                <a:ea typeface="Inter" pitchFamily="34" charset="-122"/>
                <a:cs typeface="Inter" pitchFamily="34" charset="-120"/>
              </a:rPr>
              <a:t>Context → Goal → Constraints</a:t>
            </a:r>
            <a:endParaRPr lang="en-US" sz="1600" dirty="0"/>
          </a:p>
        </p:txBody>
      </p:sp>
      <p:sp>
        <p:nvSpPr>
          <p:cNvPr id="12" name="Text 10"/>
          <p:cNvSpPr/>
          <p:nvPr/>
        </p:nvSpPr>
        <p:spPr>
          <a:xfrm>
            <a:off x="7863840" y="3611880"/>
            <a:ext cx="3383280" cy="2103120"/>
          </a:xfrm>
          <a:prstGeom prst="rect">
            <a:avLst/>
          </a:prstGeom>
          <a:noFill/>
          <a:ln/>
        </p:spPr>
        <p:txBody>
          <a:bodyPr wrap="square" lIns="0" tIns="0" rIns="0" bIns="0" rtlCol="0" anchor="ctr"/>
          <a:lstStyle/>
          <a:p>
            <a:pPr indent="0" marL="0">
              <a:lnSpc>
                <a:spcPct val="118000"/>
              </a:lnSpc>
              <a:buNone/>
            </a:pPr>
            <a:r>
              <a:rPr lang="en-US" sz="1250" dirty="0">
                <a:solidFill>
                  <a:srgbClr val="3A3D38"/>
                </a:solidFill>
                <a:latin typeface="Inter" pitchFamily="34" charset="0"/>
                <a:ea typeface="Inter" pitchFamily="34" charset="-122"/>
                <a:cs typeface="Inter" pitchFamily="34" charset="-120"/>
              </a:rPr>
              <a:t>Tell it the data, the result you want, and the rules it must follow. The cheat sheet has copy-paste templates.</a:t>
            </a:r>
            <a:endParaRPr lang="en-US" sz="1250" dirty="0"/>
          </a:p>
        </p:txBody>
      </p:sp>
      <p:sp>
        <p:nvSpPr>
          <p:cNvPr id="13" name="Text 1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5</a:t>
            </a:r>
            <a:endParaRPr lang="en-US" sz="1000" dirty="0"/>
          </a:p>
        </p:txBody>
      </p:sp>
      <p:sp>
        <p:nvSpPr>
          <p:cNvPr id="14" name="Text 1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188720"/>
            <a:ext cx="1828800" cy="457200"/>
          </a:xfrm>
          <a:prstGeom prst="roundRect">
            <a:avLst>
              <a:gd name="adj" fmla="val 24000"/>
            </a:avLst>
          </a:prstGeom>
          <a:solidFill>
            <a:srgbClr val="B1E882"/>
          </a:solidFill>
          <a:ln/>
        </p:spPr>
      </p:sp>
      <p:sp>
        <p:nvSpPr>
          <p:cNvPr id="5" name="Text 3"/>
          <p:cNvSpPr/>
          <p:nvPr/>
        </p:nvSpPr>
        <p:spPr>
          <a:xfrm>
            <a:off x="640080" y="1188720"/>
            <a:ext cx="1828800" cy="457200"/>
          </a:xfrm>
          <a:prstGeom prst="rect">
            <a:avLst/>
          </a:prstGeom>
          <a:noFill/>
          <a:ln/>
        </p:spPr>
        <p:txBody>
          <a:bodyPr wrap="square" lIns="0" tIns="0" rIns="0" bIns="0" rtlCol="0" anchor="ctr"/>
          <a:lstStyle/>
          <a:p>
            <a:pPr algn="ctr" indent="0" marL="0">
              <a:buNone/>
            </a:pPr>
            <a:r>
              <a:rPr lang="en-US" sz="1300" b="1" spc="200" kern="0" dirty="0">
                <a:solidFill>
                  <a:srgbClr val="101110"/>
                </a:solidFill>
                <a:latin typeface="Inter" pitchFamily="34" charset="0"/>
                <a:ea typeface="Inter" pitchFamily="34" charset="-122"/>
                <a:cs typeface="Inter" pitchFamily="34" charset="-120"/>
              </a:rPr>
              <a:t>LIVE DEMO</a:t>
            </a:r>
            <a:endParaRPr lang="en-US" sz="1300" dirty="0"/>
          </a:p>
        </p:txBody>
      </p:sp>
      <p:sp>
        <p:nvSpPr>
          <p:cNvPr id="6" name="Text 4"/>
          <p:cNvSpPr/>
          <p:nvPr/>
        </p:nvSpPr>
        <p:spPr>
          <a:xfrm>
            <a:off x="640080" y="1874520"/>
            <a:ext cx="10424160" cy="914400"/>
          </a:xfrm>
          <a:prstGeom prst="rect">
            <a:avLst/>
          </a:prstGeom>
          <a:noFill/>
          <a:ln/>
        </p:spPr>
        <p:txBody>
          <a:bodyPr wrap="square" lIns="0" tIns="0" rIns="0" bIns="0" rtlCol="0" anchor="ctr"/>
          <a:lstStyle/>
          <a:p>
            <a:pPr indent="0" marL="0">
              <a:buNone/>
            </a:pPr>
            <a:r>
              <a:rPr lang="en-US" sz="3200" b="1" dirty="0">
                <a:solidFill>
                  <a:srgbClr val="FFFFFF"/>
                </a:solidFill>
                <a:latin typeface="Inter" pitchFamily="34" charset="0"/>
                <a:ea typeface="Inter" pitchFamily="34" charset="-122"/>
                <a:cs typeface="Inter" pitchFamily="34" charset="-120"/>
              </a:rPr>
              <a:t>Road 2 — Python in Excel in three cells</a:t>
            </a:r>
            <a:endParaRPr lang="en-US" sz="3200" dirty="0"/>
          </a:p>
        </p:txBody>
      </p:sp>
      <p:sp>
        <p:nvSpPr>
          <p:cNvPr id="7" name="Text 5"/>
          <p:cNvSpPr/>
          <p:nvPr/>
        </p:nvSpPr>
        <p:spPr>
          <a:xfrm>
            <a:off x="640080" y="2743200"/>
            <a:ext cx="10058400" cy="457200"/>
          </a:xfrm>
          <a:prstGeom prst="rect">
            <a:avLst/>
          </a:prstGeom>
          <a:noFill/>
          <a:ln/>
        </p:spPr>
        <p:txBody>
          <a:bodyPr wrap="square" lIns="0" tIns="0" rIns="0" bIns="0" rtlCol="0" anchor="ctr"/>
          <a:lstStyle/>
          <a:p>
            <a:pPr indent="0" marL="0">
              <a:buNone/>
            </a:pPr>
            <a:r>
              <a:rPr lang="en-US" sz="1500" dirty="0">
                <a:solidFill>
                  <a:srgbClr val="B9BDB6"/>
                </a:solidFill>
                <a:latin typeface="Inter" pitchFamily="34" charset="0"/>
                <a:ea typeface="Inter" pitchFamily="34" charset="-122"/>
                <a:cs typeface="Inter" pitchFamily="34" charset="-120"/>
              </a:rPr>
              <a:t>Type =PY( and reference the Table with xl()</a:t>
            </a:r>
            <a:endParaRPr lang="en-US" sz="1500" dirty="0"/>
          </a:p>
        </p:txBody>
      </p:sp>
      <p:sp>
        <p:nvSpPr>
          <p:cNvPr id="8" name="Text 6"/>
          <p:cNvSpPr/>
          <p:nvPr/>
        </p:nvSpPr>
        <p:spPr>
          <a:xfrm>
            <a:off x="640080" y="3383280"/>
            <a:ext cx="10424160" cy="2926080"/>
          </a:xfrm>
          <a:prstGeom prst="rect">
            <a:avLst/>
          </a:prstGeom>
          <a:noFill/>
          <a:ln/>
        </p:spPr>
        <p:txBody>
          <a:bodyPr wrap="square" lIns="0" tIns="0" rIns="0" bIns="0" rtlCol="0" anchor="t"/>
          <a:lstStyle/>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1.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df = xl("BudgetActual[#All]", headers=True) — load the Table into a DataFrame.</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2.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Group + variance: df.groupby('Department')[['Budget','Actual']].sum(), add Variance %.</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3.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One-cell chart: g.plot(kind='barh'); return the figure to see it on the grid.</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4.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Bonus: describe the Transactions table by Category with groupby + agg.</a:t>
            </a:r>
            <a:endParaRPr lang="en-US" sz="1500" dirty="0"/>
          </a:p>
        </p:txBody>
      </p:sp>
      <p:sp>
        <p:nvSpPr>
          <p:cNvPr id="9" name="Text 7"/>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7A7E78"/>
                </a:solidFill>
                <a:latin typeface="Inter" pitchFamily="34" charset="0"/>
                <a:ea typeface="Inter" pitchFamily="34" charset="-122"/>
                <a:cs typeface="Inter" pitchFamily="34" charset="-120"/>
              </a:rPr>
              <a:t>6</a:t>
            </a:r>
            <a:endParaRPr lang="en-US" sz="1000" dirty="0"/>
          </a:p>
        </p:txBody>
      </p:sp>
      <p:sp>
        <p:nvSpPr>
          <p:cNvPr id="10" name="Text 8"/>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7A7E78"/>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188720"/>
            <a:ext cx="1828800" cy="457200"/>
          </a:xfrm>
          <a:prstGeom prst="roundRect">
            <a:avLst>
              <a:gd name="adj" fmla="val 24000"/>
            </a:avLst>
          </a:prstGeom>
          <a:solidFill>
            <a:srgbClr val="B1E882"/>
          </a:solidFill>
          <a:ln/>
        </p:spPr>
      </p:sp>
      <p:sp>
        <p:nvSpPr>
          <p:cNvPr id="5" name="Text 3"/>
          <p:cNvSpPr/>
          <p:nvPr/>
        </p:nvSpPr>
        <p:spPr>
          <a:xfrm>
            <a:off x="640080" y="1188720"/>
            <a:ext cx="1828800" cy="457200"/>
          </a:xfrm>
          <a:prstGeom prst="rect">
            <a:avLst/>
          </a:prstGeom>
          <a:noFill/>
          <a:ln/>
        </p:spPr>
        <p:txBody>
          <a:bodyPr wrap="square" lIns="0" tIns="0" rIns="0" bIns="0" rtlCol="0" anchor="ctr"/>
          <a:lstStyle/>
          <a:p>
            <a:pPr algn="ctr" indent="0" marL="0">
              <a:buNone/>
            </a:pPr>
            <a:r>
              <a:rPr lang="en-US" sz="1300" b="1" spc="200" kern="0" dirty="0">
                <a:solidFill>
                  <a:srgbClr val="101110"/>
                </a:solidFill>
                <a:latin typeface="Inter" pitchFamily="34" charset="0"/>
                <a:ea typeface="Inter" pitchFamily="34" charset="-122"/>
                <a:cs typeface="Inter" pitchFamily="34" charset="-120"/>
              </a:rPr>
              <a:t>LIVE DEMO</a:t>
            </a:r>
            <a:endParaRPr lang="en-US" sz="1300" dirty="0"/>
          </a:p>
        </p:txBody>
      </p:sp>
      <p:sp>
        <p:nvSpPr>
          <p:cNvPr id="6" name="Text 4"/>
          <p:cNvSpPr/>
          <p:nvPr/>
        </p:nvSpPr>
        <p:spPr>
          <a:xfrm>
            <a:off x="640080" y="1874520"/>
            <a:ext cx="10424160" cy="914400"/>
          </a:xfrm>
          <a:prstGeom prst="rect">
            <a:avLst/>
          </a:prstGeom>
          <a:noFill/>
          <a:ln/>
        </p:spPr>
        <p:txBody>
          <a:bodyPr wrap="square" lIns="0" tIns="0" rIns="0" bIns="0" rtlCol="0" anchor="ctr"/>
          <a:lstStyle/>
          <a:p>
            <a:pPr indent="0" marL="0">
              <a:buNone/>
            </a:pPr>
            <a:r>
              <a:rPr lang="en-US" sz="3200" b="1" dirty="0">
                <a:solidFill>
                  <a:srgbClr val="FFFFFF"/>
                </a:solidFill>
                <a:latin typeface="Inter" pitchFamily="34" charset="0"/>
                <a:ea typeface="Inter" pitchFamily="34" charset="-122"/>
                <a:cs typeface="Inter" pitchFamily="34" charset="-120"/>
              </a:rPr>
              <a:t>Road 3 — Copilot in Excel</a:t>
            </a:r>
            <a:endParaRPr lang="en-US" sz="3200" dirty="0"/>
          </a:p>
        </p:txBody>
      </p:sp>
      <p:sp>
        <p:nvSpPr>
          <p:cNvPr id="7" name="Text 5"/>
          <p:cNvSpPr/>
          <p:nvPr/>
        </p:nvSpPr>
        <p:spPr>
          <a:xfrm>
            <a:off x="640080" y="2743200"/>
            <a:ext cx="10058400" cy="457200"/>
          </a:xfrm>
          <a:prstGeom prst="rect">
            <a:avLst/>
          </a:prstGeom>
          <a:noFill/>
          <a:ln/>
        </p:spPr>
        <p:txBody>
          <a:bodyPr wrap="square" lIns="0" tIns="0" rIns="0" bIns="0" rtlCol="0" anchor="ctr"/>
          <a:lstStyle/>
          <a:p>
            <a:pPr indent="0" marL="0">
              <a:buNone/>
            </a:pPr>
            <a:r>
              <a:rPr lang="en-US" sz="1500" dirty="0">
                <a:solidFill>
                  <a:srgbClr val="B9BDB6"/>
                </a:solidFill>
                <a:latin typeface="Inter" pitchFamily="34" charset="0"/>
                <a:ea typeface="Inter" pitchFamily="34" charset="-122"/>
                <a:cs typeface="Inter" pitchFamily="34" charset="-120"/>
              </a:rPr>
              <a:t>Select the Table, open Copilot, ask in plain English</a:t>
            </a:r>
            <a:endParaRPr lang="en-US" sz="1500" dirty="0"/>
          </a:p>
        </p:txBody>
      </p:sp>
      <p:sp>
        <p:nvSpPr>
          <p:cNvPr id="8" name="Text 6"/>
          <p:cNvSpPr/>
          <p:nvPr/>
        </p:nvSpPr>
        <p:spPr>
          <a:xfrm>
            <a:off x="640080" y="3383280"/>
            <a:ext cx="10424160" cy="2926080"/>
          </a:xfrm>
          <a:prstGeom prst="rect">
            <a:avLst/>
          </a:prstGeom>
          <a:noFill/>
          <a:ln/>
        </p:spPr>
        <p:txBody>
          <a:bodyPr wrap="square" lIns="0" tIns="0" rIns="0" bIns="0" rtlCol="0" anchor="t"/>
          <a:lstStyle/>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1.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“Summarize total Actual vs Budget by Department and flag departments over budget.”</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2.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“Add a column showing variance percent.” — then CHECK the formula it writes.</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3.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“Create a PivotTable of Actual by Department and Month.”</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4.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“Insert a chart comparing Budget and Actual by Department.”</a:t>
            </a:r>
            <a:endParaRPr lang="en-US" sz="1500" dirty="0"/>
          </a:p>
          <a:p>
            <a:pPr indent="0" marL="0">
              <a:lnSpc>
                <a:spcPct val="110000"/>
              </a:lnSpc>
              <a:buNone/>
            </a:pPr>
            <a:r>
              <a:rPr lang="en-US" sz="1500" b="1" dirty="0">
                <a:solidFill>
                  <a:srgbClr val="B1E882"/>
                </a:solidFill>
                <a:latin typeface="Inter" pitchFamily="34" charset="0"/>
                <a:ea typeface="Inter" pitchFamily="34" charset="-122"/>
                <a:cs typeface="Inter" pitchFamily="34" charset="-120"/>
              </a:rPr>
              <a:t>5.  </a:t>
            </a:r>
            <a:pPr indent="0" marL="0">
              <a:lnSpc>
                <a:spcPct val="110000"/>
              </a:lnSpc>
              <a:spcAft>
                <a:spcPts val="900"/>
              </a:spcAft>
              <a:buNone/>
            </a:pPr>
            <a:r>
              <a:rPr lang="en-US" sz="1500" dirty="0">
                <a:solidFill>
                  <a:srgbClr val="E8EAE5"/>
                </a:solidFill>
                <a:latin typeface="Inter" pitchFamily="34" charset="0"/>
                <a:ea typeface="Inter" pitchFamily="34" charset="-122"/>
                <a:cs typeface="Inter" pitchFamily="34" charset="-120"/>
              </a:rPr>
              <a:t>If Copilot refuses: confirm the data is a Table and the file is saved to OneDrive/SharePoint.</a:t>
            </a:r>
            <a:endParaRPr lang="en-US" sz="1500" dirty="0"/>
          </a:p>
        </p:txBody>
      </p:sp>
      <p:sp>
        <p:nvSpPr>
          <p:cNvPr id="9" name="Text 7"/>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7A7E78"/>
                </a:solidFill>
                <a:latin typeface="Inter" pitchFamily="34" charset="0"/>
                <a:ea typeface="Inter" pitchFamily="34" charset="-122"/>
                <a:cs typeface="Inter" pitchFamily="34" charset="-120"/>
              </a:rPr>
              <a:t>7</a:t>
            </a:r>
            <a:endParaRPr lang="en-US" sz="1000" dirty="0"/>
          </a:p>
        </p:txBody>
      </p:sp>
      <p:sp>
        <p:nvSpPr>
          <p:cNvPr id="10" name="Text 8"/>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7A7E78"/>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THE DECISION RULE</a:t>
            </a:r>
            <a:endParaRPr lang="en-US" sz="1200" dirty="0"/>
          </a:p>
        </p:txBody>
      </p:sp>
      <p:sp>
        <p:nvSpPr>
          <p:cNvPr id="6" name="Text 4"/>
          <p:cNvSpPr/>
          <p:nvPr/>
        </p:nvSpPr>
        <p:spPr>
          <a:xfrm>
            <a:off x="640080" y="123444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Which tool when?</a:t>
            </a:r>
            <a:endParaRPr lang="en-US" sz="3000" dirty="0"/>
          </a:p>
        </p:txBody>
      </p:sp>
      <p:sp>
        <p:nvSpPr>
          <p:cNvPr id="7" name="Shape 5"/>
          <p:cNvSpPr/>
          <p:nvPr/>
        </p:nvSpPr>
        <p:spPr>
          <a:xfrm>
            <a:off x="640080" y="2377440"/>
            <a:ext cx="5257800" cy="3657600"/>
          </a:xfrm>
          <a:prstGeom prst="roundRect">
            <a:avLst>
              <a:gd name="adj" fmla="val 4000"/>
            </a:avLst>
          </a:prstGeom>
          <a:solidFill>
            <a:srgbClr val="101110"/>
          </a:solidFill>
          <a:ln/>
          <a:effectLst>
            <a:outerShdw sx="100000" sy="100000" kx="0" ky="0" algn="bl" rotWithShape="0" blurRad="114300" dist="38100" dir="5400000">
              <a:srgbClr val="000000">
                <a:alpha val="10000"/>
              </a:srgbClr>
            </a:outerShdw>
          </a:effectLst>
        </p:spPr>
      </p:sp>
      <p:sp>
        <p:nvSpPr>
          <p:cNvPr id="8" name="Text 6"/>
          <p:cNvSpPr/>
          <p:nvPr/>
        </p:nvSpPr>
        <p:spPr>
          <a:xfrm>
            <a:off x="960120" y="2651760"/>
            <a:ext cx="4617720" cy="457200"/>
          </a:xfrm>
          <a:prstGeom prst="rect">
            <a:avLst/>
          </a:prstGeom>
          <a:noFill/>
          <a:ln/>
        </p:spPr>
        <p:txBody>
          <a:bodyPr wrap="square" lIns="0" tIns="0" rIns="0" bIns="0" rtlCol="0" anchor="ctr"/>
          <a:lstStyle/>
          <a:p>
            <a:pPr indent="0" marL="0">
              <a:buNone/>
            </a:pPr>
            <a:r>
              <a:rPr lang="en-US" sz="1800" b="1" dirty="0">
                <a:solidFill>
                  <a:srgbClr val="B1E882"/>
                </a:solidFill>
                <a:latin typeface="Inter" pitchFamily="34" charset="0"/>
                <a:ea typeface="Inter" pitchFamily="34" charset="-122"/>
                <a:cs typeface="Inter" pitchFamily="34" charset="-120"/>
              </a:rPr>
              <a:t>Reach for…</a:t>
            </a:r>
            <a:endParaRPr lang="en-US" sz="1800" dirty="0"/>
          </a:p>
        </p:txBody>
      </p:sp>
      <p:sp>
        <p:nvSpPr>
          <p:cNvPr id="9" name="Text 7"/>
          <p:cNvSpPr/>
          <p:nvPr/>
        </p:nvSpPr>
        <p:spPr>
          <a:xfrm>
            <a:off x="960120" y="3246120"/>
            <a:ext cx="4617720" cy="256032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One lookup / a quick variance column  →  Formula (AI drafts &amp; explains)</a:t>
            </a:r>
            <a:endParaRPr lang="en-US" sz="1350" dirty="0"/>
          </a:p>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Group + chart + stats together  →  Python in Excel</a:t>
            </a:r>
            <a:endParaRPr lang="en-US" sz="1350" dirty="0"/>
          </a:p>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“Summarize / pivot / chart this”  →  Copilot</a:t>
            </a:r>
            <a:endParaRPr lang="en-US" sz="1350" dirty="0"/>
          </a:p>
          <a:p>
            <a:pPr marL="203200" indent="-203200">
              <a:lnSpc>
                <a:spcPct val="108000"/>
              </a:lnSpc>
              <a:spcAft>
                <a:spcPts val="800"/>
              </a:spcAft>
              <a:buSzPct val="100000"/>
              <a:buChar char="•"/>
            </a:pPr>
            <a:r>
              <a:rPr lang="en-US" sz="1350" dirty="0">
                <a:solidFill>
                  <a:srgbClr val="E8EAE5"/>
                </a:solidFill>
                <a:latin typeface="Inter" pitchFamily="34" charset="0"/>
                <a:ea typeface="Inter" pitchFamily="34" charset="-122"/>
                <a:cs typeface="Inter" pitchFamily="34" charset="-120"/>
              </a:rPr>
              <a:t>“Why is this broken?”  →  Any AI assistant — paste the error</a:t>
            </a:r>
            <a:endParaRPr lang="en-US" sz="1350" dirty="0"/>
          </a:p>
        </p:txBody>
      </p:sp>
      <p:sp>
        <p:nvSpPr>
          <p:cNvPr id="10" name="Shape 8"/>
          <p:cNvSpPr/>
          <p:nvPr/>
        </p:nvSpPr>
        <p:spPr>
          <a:xfrm>
            <a:off x="6217920" y="2377440"/>
            <a:ext cx="5257800" cy="3657600"/>
          </a:xfrm>
          <a:prstGeom prst="roundRect">
            <a:avLst>
              <a:gd name="adj" fmla="val 4000"/>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1" name="Text 9"/>
          <p:cNvSpPr/>
          <p:nvPr/>
        </p:nvSpPr>
        <p:spPr>
          <a:xfrm>
            <a:off x="6537960" y="2651760"/>
            <a:ext cx="4617720" cy="457200"/>
          </a:xfrm>
          <a:prstGeom prst="rect">
            <a:avLst/>
          </a:prstGeom>
          <a:noFill/>
          <a:ln/>
        </p:spPr>
        <p:txBody>
          <a:bodyPr wrap="square" lIns="0" tIns="0" rIns="0" bIns="0" rtlCol="0" anchor="ctr"/>
          <a:lstStyle/>
          <a:p>
            <a:pPr indent="0" marL="0">
              <a:buNone/>
            </a:pPr>
            <a:r>
              <a:rPr lang="en-US" sz="1800" b="1" dirty="0">
                <a:solidFill>
                  <a:srgbClr val="101110"/>
                </a:solidFill>
                <a:latin typeface="Inter" pitchFamily="34" charset="0"/>
                <a:ea typeface="Inter" pitchFamily="34" charset="-122"/>
                <a:cs typeface="Inter" pitchFamily="34" charset="-120"/>
              </a:rPr>
              <a:t>Watch out for…</a:t>
            </a:r>
            <a:endParaRPr lang="en-US" sz="1800" dirty="0"/>
          </a:p>
        </p:txBody>
      </p:sp>
      <p:sp>
        <p:nvSpPr>
          <p:cNvPr id="12" name="Text 10"/>
          <p:cNvSpPr/>
          <p:nvPr/>
        </p:nvSpPr>
        <p:spPr>
          <a:xfrm>
            <a:off x="6537960" y="3246120"/>
            <a:ext cx="4617720" cy="2560320"/>
          </a:xfrm>
          <a:prstGeom prst="rect">
            <a:avLst/>
          </a:prstGeom>
          <a:noFill/>
          <a:ln/>
        </p:spPr>
        <p:txBody>
          <a:bodyPr wrap="square" lIns="0" tIns="0" rIns="0" bIns="0" rtlCol="0" anchor="t"/>
          <a:lstStyle/>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Sensitive data + a public tool  →  keep it local (formulas / Python)</a:t>
            </a:r>
            <a:endParaRPr lang="en-US" sz="1350" dirty="0"/>
          </a:p>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Precise multi-step logic  →  verify every AI formula</a:t>
            </a:r>
            <a:endParaRPr lang="en-US" sz="1350" dirty="0"/>
          </a:p>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Big-range math in chat  →  it can miscount; check in the grid</a:t>
            </a:r>
            <a:endParaRPr lang="en-US" sz="1350" dirty="0"/>
          </a:p>
          <a:p>
            <a:pPr marL="203200" indent="-203200">
              <a:lnSpc>
                <a:spcPct val="108000"/>
              </a:lnSpc>
              <a:spcAft>
                <a:spcPts val="800"/>
              </a:spcAft>
              <a:buSzPct val="100000"/>
              <a:buChar char="•"/>
            </a:pPr>
            <a:r>
              <a:rPr lang="en-US" sz="1350" dirty="0">
                <a:solidFill>
                  <a:srgbClr val="3A3D38"/>
                </a:solidFill>
                <a:latin typeface="Inter" pitchFamily="34" charset="0"/>
                <a:ea typeface="Inter" pitchFamily="34" charset="-122"/>
                <a:cs typeface="Inter" pitchFamily="34" charset="-120"/>
              </a:rPr>
              <a:t>Copilot needs a Table + a cloud-saved file</a:t>
            </a:r>
            <a:endParaRPr lang="en-US" sz="1350" dirty="0"/>
          </a:p>
        </p:txBody>
      </p:sp>
      <p:sp>
        <p:nvSpPr>
          <p:cNvPr id="13" name="Text 1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8</a:t>
            </a:r>
            <a:endParaRPr lang="en-US" sz="1000" dirty="0"/>
          </a:p>
        </p:txBody>
      </p:sp>
      <p:sp>
        <p:nvSpPr>
          <p:cNvPr id="14" name="Text 1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955548"/>
            <a:ext cx="146304" cy="146304"/>
          </a:xfrm>
          <a:prstGeom prst="roundRect">
            <a:avLst>
              <a:gd name="adj" fmla="val 25000"/>
            </a:avLst>
          </a:prstGeom>
          <a:solidFill>
            <a:srgbClr val="B1E882"/>
          </a:solidFill>
          <a:ln/>
        </p:spPr>
      </p:sp>
      <p:sp>
        <p:nvSpPr>
          <p:cNvPr id="5" name="Text 3"/>
          <p:cNvSpPr/>
          <p:nvPr/>
        </p:nvSpPr>
        <p:spPr>
          <a:xfrm>
            <a:off x="877824" y="91440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THE ANSWER</a:t>
            </a:r>
            <a:endParaRPr lang="en-US" sz="1200" dirty="0"/>
          </a:p>
        </p:txBody>
      </p:sp>
      <p:sp>
        <p:nvSpPr>
          <p:cNvPr id="6" name="Text 4"/>
          <p:cNvSpPr/>
          <p:nvPr/>
        </p:nvSpPr>
        <p:spPr>
          <a:xfrm>
            <a:off x="640080" y="123444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Three roads, one result</a:t>
            </a:r>
            <a:endParaRPr lang="en-US" sz="3000" dirty="0"/>
          </a:p>
        </p:txBody>
      </p:sp>
      <p:sp>
        <p:nvSpPr>
          <p:cNvPr id="7" name="Shape 5"/>
          <p:cNvSpPr/>
          <p:nvPr/>
        </p:nvSpPr>
        <p:spPr>
          <a:xfrm>
            <a:off x="640080" y="2651760"/>
            <a:ext cx="3393338" cy="2468880"/>
          </a:xfrm>
          <a:prstGeom prst="roundRect">
            <a:avLst>
              <a:gd name="adj" fmla="val 5926"/>
            </a:avLst>
          </a:prstGeom>
          <a:solidFill>
            <a:srgbClr val="101110"/>
          </a:solidFill>
          <a:ln/>
          <a:effectLst>
            <a:outerShdw sx="100000" sy="100000" kx="0" ky="0" algn="bl" rotWithShape="0" blurRad="114300" dist="38100" dir="5400000">
              <a:srgbClr val="000000">
                <a:alpha val="10000"/>
              </a:srgbClr>
            </a:outerShdw>
          </a:effectLst>
        </p:spPr>
      </p:sp>
      <p:sp>
        <p:nvSpPr>
          <p:cNvPr id="8" name="Text 6"/>
          <p:cNvSpPr/>
          <p:nvPr/>
        </p:nvSpPr>
        <p:spPr>
          <a:xfrm>
            <a:off x="822960" y="3063240"/>
            <a:ext cx="3027578" cy="1005840"/>
          </a:xfrm>
          <a:prstGeom prst="rect">
            <a:avLst/>
          </a:prstGeom>
          <a:noFill/>
          <a:ln/>
        </p:spPr>
        <p:txBody>
          <a:bodyPr wrap="square" lIns="0" tIns="0" rIns="0" bIns="0" rtlCol="0" anchor="ctr"/>
          <a:lstStyle/>
          <a:p>
            <a:pPr algn="ctr" indent="0" marL="0">
              <a:buNone/>
            </a:pPr>
            <a:r>
              <a:rPr lang="en-US" sz="4600" b="1" dirty="0">
                <a:solidFill>
                  <a:srgbClr val="B1E882"/>
                </a:solidFill>
                <a:latin typeface="Inter" pitchFamily="34" charset="0"/>
                <a:ea typeface="Inter" pitchFamily="34" charset="-122"/>
                <a:cs typeface="Inter" pitchFamily="34" charset="-120"/>
              </a:rPr>
              <a:t>+13%</a:t>
            </a:r>
            <a:endParaRPr lang="en-US" sz="4600" dirty="0"/>
          </a:p>
        </p:txBody>
      </p:sp>
      <p:sp>
        <p:nvSpPr>
          <p:cNvPr id="9" name="Text 7"/>
          <p:cNvSpPr/>
          <p:nvPr/>
        </p:nvSpPr>
        <p:spPr>
          <a:xfrm>
            <a:off x="868680" y="4206240"/>
            <a:ext cx="2936138" cy="822960"/>
          </a:xfrm>
          <a:prstGeom prst="rect">
            <a:avLst/>
          </a:prstGeom>
          <a:noFill/>
          <a:ln/>
        </p:spPr>
        <p:txBody>
          <a:bodyPr wrap="square" lIns="0" tIns="0" rIns="0" bIns="0" rtlCol="0" anchor="t"/>
          <a:lstStyle/>
          <a:p>
            <a:pPr algn="ctr" indent="0" marL="0">
              <a:lnSpc>
                <a:spcPct val="110000"/>
              </a:lnSpc>
              <a:buNone/>
            </a:pPr>
            <a:r>
              <a:rPr lang="en-US" sz="1300" dirty="0">
                <a:solidFill>
                  <a:srgbClr val="D6D9D2"/>
                </a:solidFill>
                <a:latin typeface="Inter" pitchFamily="34" charset="0"/>
                <a:ea typeface="Inter" pitchFamily="34" charset="-122"/>
                <a:cs typeface="Inter" pitchFamily="34" charset="-120"/>
              </a:rPr>
              <a:t>R&amp;D — the biggest overspend</a:t>
            </a:r>
            <a:endParaRPr lang="en-US" sz="1300" dirty="0"/>
          </a:p>
        </p:txBody>
      </p:sp>
      <p:sp>
        <p:nvSpPr>
          <p:cNvPr id="10" name="Shape 8"/>
          <p:cNvSpPr/>
          <p:nvPr/>
        </p:nvSpPr>
        <p:spPr>
          <a:xfrm>
            <a:off x="4399178" y="2651760"/>
            <a:ext cx="3393338" cy="2468880"/>
          </a:xfrm>
          <a:prstGeom prst="roundRect">
            <a:avLst>
              <a:gd name="adj" fmla="val 5926"/>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1" name="Text 9"/>
          <p:cNvSpPr/>
          <p:nvPr/>
        </p:nvSpPr>
        <p:spPr>
          <a:xfrm>
            <a:off x="4582058" y="3063240"/>
            <a:ext cx="3027578" cy="1005840"/>
          </a:xfrm>
          <a:prstGeom prst="rect">
            <a:avLst/>
          </a:prstGeom>
          <a:noFill/>
          <a:ln/>
        </p:spPr>
        <p:txBody>
          <a:bodyPr wrap="square" lIns="0" tIns="0" rIns="0" bIns="0" rtlCol="0" anchor="ctr"/>
          <a:lstStyle/>
          <a:p>
            <a:pPr algn="ctr" indent="0" marL="0">
              <a:buNone/>
            </a:pPr>
            <a:r>
              <a:rPr lang="en-US" sz="4600" b="1" dirty="0">
                <a:solidFill>
                  <a:srgbClr val="101110"/>
                </a:solidFill>
                <a:latin typeface="Inter" pitchFamily="34" charset="0"/>
                <a:ea typeface="Inter" pitchFamily="34" charset="-122"/>
                <a:cs typeface="Inter" pitchFamily="34" charset="-120"/>
              </a:rPr>
              <a:t>+3.3%</a:t>
            </a:r>
            <a:endParaRPr lang="en-US" sz="4600" dirty="0"/>
          </a:p>
        </p:txBody>
      </p:sp>
      <p:sp>
        <p:nvSpPr>
          <p:cNvPr id="12" name="Text 10"/>
          <p:cNvSpPr/>
          <p:nvPr/>
        </p:nvSpPr>
        <p:spPr>
          <a:xfrm>
            <a:off x="4627778" y="4206240"/>
            <a:ext cx="2936138" cy="822960"/>
          </a:xfrm>
          <a:prstGeom prst="rect">
            <a:avLst/>
          </a:prstGeom>
          <a:noFill/>
          <a:ln/>
        </p:spPr>
        <p:txBody>
          <a:bodyPr wrap="square" lIns="0" tIns="0" rIns="0" bIns="0" rtlCol="0" anchor="t"/>
          <a:lstStyle/>
          <a:p>
            <a:pPr algn="ctr" indent="0" marL="0">
              <a:lnSpc>
                <a:spcPct val="110000"/>
              </a:lnSpc>
              <a:buNone/>
            </a:pPr>
            <a:r>
              <a:rPr lang="en-US" sz="1300" dirty="0">
                <a:solidFill>
                  <a:srgbClr val="3A3D38"/>
                </a:solidFill>
                <a:latin typeface="Inter" pitchFamily="34" charset="0"/>
                <a:ea typeface="Inter" pitchFamily="34" charset="-122"/>
                <a:cs typeface="Inter" pitchFamily="34" charset="-120"/>
              </a:rPr>
              <a:t>total actual vs budget, all departments</a:t>
            </a:r>
            <a:endParaRPr lang="en-US" sz="1300" dirty="0"/>
          </a:p>
        </p:txBody>
      </p:sp>
      <p:sp>
        <p:nvSpPr>
          <p:cNvPr id="13" name="Shape 11"/>
          <p:cNvSpPr/>
          <p:nvPr/>
        </p:nvSpPr>
        <p:spPr>
          <a:xfrm>
            <a:off x="8158277" y="2651760"/>
            <a:ext cx="3393338" cy="2468880"/>
          </a:xfrm>
          <a:prstGeom prst="roundRect">
            <a:avLst>
              <a:gd name="adj" fmla="val 5926"/>
            </a:avLst>
          </a:prstGeom>
          <a:solidFill>
            <a:srgbClr val="101110"/>
          </a:solidFill>
          <a:ln/>
          <a:effectLst>
            <a:outerShdw sx="100000" sy="100000" kx="0" ky="0" algn="bl" rotWithShape="0" blurRad="114300" dist="38100" dir="5400000">
              <a:srgbClr val="000000">
                <a:alpha val="10000"/>
              </a:srgbClr>
            </a:outerShdw>
          </a:effectLst>
        </p:spPr>
      </p:sp>
      <p:sp>
        <p:nvSpPr>
          <p:cNvPr id="14" name="Text 12"/>
          <p:cNvSpPr/>
          <p:nvPr/>
        </p:nvSpPr>
        <p:spPr>
          <a:xfrm>
            <a:off x="8341157" y="3063240"/>
            <a:ext cx="3027578" cy="1005840"/>
          </a:xfrm>
          <a:prstGeom prst="rect">
            <a:avLst/>
          </a:prstGeom>
          <a:noFill/>
          <a:ln/>
        </p:spPr>
        <p:txBody>
          <a:bodyPr wrap="square" lIns="0" tIns="0" rIns="0" bIns="0" rtlCol="0" anchor="ctr"/>
          <a:lstStyle/>
          <a:p>
            <a:pPr algn="ctr" indent="0" marL="0">
              <a:buNone/>
            </a:pPr>
            <a:r>
              <a:rPr lang="en-US" sz="4600" b="1" dirty="0">
                <a:solidFill>
                  <a:srgbClr val="B1E882"/>
                </a:solidFill>
                <a:latin typeface="Inter" pitchFamily="34" charset="0"/>
                <a:ea typeface="Inter" pitchFamily="34" charset="-122"/>
                <a:cs typeface="Inter" pitchFamily="34" charset="-120"/>
              </a:rPr>
              <a:t>−9%</a:t>
            </a:r>
            <a:endParaRPr lang="en-US" sz="4600" dirty="0"/>
          </a:p>
        </p:txBody>
      </p:sp>
      <p:sp>
        <p:nvSpPr>
          <p:cNvPr id="15" name="Text 13"/>
          <p:cNvSpPr/>
          <p:nvPr/>
        </p:nvSpPr>
        <p:spPr>
          <a:xfrm>
            <a:off x="8386877" y="4206240"/>
            <a:ext cx="2936138" cy="822960"/>
          </a:xfrm>
          <a:prstGeom prst="rect">
            <a:avLst/>
          </a:prstGeom>
          <a:noFill/>
          <a:ln/>
        </p:spPr>
        <p:txBody>
          <a:bodyPr wrap="square" lIns="0" tIns="0" rIns="0" bIns="0" rtlCol="0" anchor="t"/>
          <a:lstStyle/>
          <a:p>
            <a:pPr algn="ctr" indent="0" marL="0">
              <a:lnSpc>
                <a:spcPct val="110000"/>
              </a:lnSpc>
              <a:buNone/>
            </a:pPr>
            <a:r>
              <a:rPr lang="en-US" sz="1300" dirty="0">
                <a:solidFill>
                  <a:srgbClr val="D6D9D2"/>
                </a:solidFill>
                <a:latin typeface="Inter" pitchFamily="34" charset="0"/>
                <a:ea typeface="Inter" pitchFamily="34" charset="-122"/>
                <a:cs typeface="Inter" pitchFamily="34" charset="-120"/>
              </a:rPr>
              <a:t>Customer Success — the biggest underspend</a:t>
            </a:r>
            <a:endParaRPr lang="en-US" sz="1300" dirty="0"/>
          </a:p>
        </p:txBody>
      </p:sp>
      <p:sp>
        <p:nvSpPr>
          <p:cNvPr id="16" name="Text 14"/>
          <p:cNvSpPr/>
          <p:nvPr/>
        </p:nvSpPr>
        <p:spPr>
          <a:xfrm>
            <a:off x="640080" y="5394960"/>
            <a:ext cx="10607040" cy="457200"/>
          </a:xfrm>
          <a:prstGeom prst="rect">
            <a:avLst/>
          </a:prstGeom>
          <a:noFill/>
          <a:ln/>
        </p:spPr>
        <p:txBody>
          <a:bodyPr wrap="square" lIns="0" tIns="0" rIns="0" bIns="0" rtlCol="0" anchor="ctr"/>
          <a:lstStyle/>
          <a:p>
            <a:pPr indent="0" marL="0">
              <a:buNone/>
            </a:pPr>
            <a:r>
              <a:rPr lang="en-US" sz="1100" i="1" dirty="0">
                <a:solidFill>
                  <a:srgbClr val="6B6F6B"/>
                </a:solidFill>
                <a:latin typeface="Inter" pitchFamily="34" charset="0"/>
                <a:ea typeface="Inter" pitchFamily="34" charset="-122"/>
                <a:cs typeface="Inter" pitchFamily="34" charset="-120"/>
              </a:rPr>
              <a:t>Formulas, Python in Excel, and Copilot all land here. When tools agree, your confidence should rise.</a:t>
            </a:r>
            <a:endParaRPr lang="en-US" sz="1100" dirty="0"/>
          </a:p>
        </p:txBody>
      </p:sp>
      <p:sp>
        <p:nvSpPr>
          <p:cNvPr id="17" name="Text 15"/>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9</a:t>
            </a:r>
            <a:endParaRPr lang="en-US" sz="1000" dirty="0"/>
          </a:p>
        </p:txBody>
      </p:sp>
      <p:sp>
        <p:nvSpPr>
          <p:cNvPr id="18" name="Text 16"/>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001268"/>
            <a:ext cx="146304" cy="146304"/>
          </a:xfrm>
          <a:prstGeom prst="roundRect">
            <a:avLst>
              <a:gd name="adj" fmla="val 25000"/>
            </a:avLst>
          </a:prstGeom>
          <a:solidFill>
            <a:srgbClr val="B1E882"/>
          </a:solidFill>
          <a:ln/>
        </p:spPr>
      </p:sp>
      <p:sp>
        <p:nvSpPr>
          <p:cNvPr id="5" name="Text 3"/>
          <p:cNvSpPr/>
          <p:nvPr/>
        </p:nvSpPr>
        <p:spPr>
          <a:xfrm>
            <a:off x="877824" y="96012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KEY TAKEAWAYS</a:t>
            </a:r>
            <a:endParaRPr lang="en-US" sz="1200" dirty="0"/>
          </a:p>
        </p:txBody>
      </p:sp>
      <p:sp>
        <p:nvSpPr>
          <p:cNvPr id="6" name="Text 4"/>
          <p:cNvSpPr/>
          <p:nvPr/>
        </p:nvSpPr>
        <p:spPr>
          <a:xfrm>
            <a:off x="640080" y="1280160"/>
            <a:ext cx="10607040" cy="82296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What to remember from Session 2</a:t>
            </a:r>
            <a:endParaRPr lang="en-US" sz="3000" dirty="0"/>
          </a:p>
        </p:txBody>
      </p:sp>
      <p:sp>
        <p:nvSpPr>
          <p:cNvPr id="7" name="Shape 5"/>
          <p:cNvSpPr/>
          <p:nvPr/>
        </p:nvSpPr>
        <p:spPr>
          <a:xfrm>
            <a:off x="640080" y="2505456"/>
            <a:ext cx="384048" cy="384048"/>
          </a:xfrm>
          <a:prstGeom prst="roundRect">
            <a:avLst>
              <a:gd name="adj" fmla="val 23810"/>
            </a:avLst>
          </a:prstGeom>
          <a:solidFill>
            <a:srgbClr val="B1E882"/>
          </a:solidFill>
          <a:ln/>
        </p:spPr>
      </p:sp>
      <p:sp>
        <p:nvSpPr>
          <p:cNvPr id="8" name="Text 6"/>
          <p:cNvSpPr/>
          <p:nvPr/>
        </p:nvSpPr>
        <p:spPr>
          <a:xfrm>
            <a:off x="640080" y="248716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9" name="Text 7"/>
          <p:cNvSpPr/>
          <p:nvPr/>
        </p:nvSpPr>
        <p:spPr>
          <a:xfrm>
            <a:off x="1234440" y="242316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AI is your formula writer and explainer — you stay the editor who verifies the logic.</a:t>
            </a:r>
            <a:endParaRPr lang="en-US" sz="1600" dirty="0"/>
          </a:p>
        </p:txBody>
      </p:sp>
      <p:sp>
        <p:nvSpPr>
          <p:cNvPr id="10" name="Shape 8"/>
          <p:cNvSpPr/>
          <p:nvPr/>
        </p:nvSpPr>
        <p:spPr>
          <a:xfrm>
            <a:off x="640080" y="3396996"/>
            <a:ext cx="384048" cy="384048"/>
          </a:xfrm>
          <a:prstGeom prst="roundRect">
            <a:avLst>
              <a:gd name="adj" fmla="val 23810"/>
            </a:avLst>
          </a:prstGeom>
          <a:solidFill>
            <a:srgbClr val="B1E882"/>
          </a:solidFill>
          <a:ln/>
        </p:spPr>
      </p:sp>
      <p:sp>
        <p:nvSpPr>
          <p:cNvPr id="11" name="Text 9"/>
          <p:cNvSpPr/>
          <p:nvPr/>
        </p:nvSpPr>
        <p:spPr>
          <a:xfrm>
            <a:off x="640080" y="337870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12" name="Text 10"/>
          <p:cNvSpPr/>
          <p:nvPr/>
        </p:nvSpPr>
        <p:spPr>
          <a:xfrm>
            <a:off x="1234440" y="331470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Context → Goal → Constraints: the prompt pattern that works in every AI tool.</a:t>
            </a:r>
            <a:endParaRPr lang="en-US" sz="1600" dirty="0"/>
          </a:p>
        </p:txBody>
      </p:sp>
      <p:sp>
        <p:nvSpPr>
          <p:cNvPr id="13" name="Shape 11"/>
          <p:cNvSpPr/>
          <p:nvPr/>
        </p:nvSpPr>
        <p:spPr>
          <a:xfrm>
            <a:off x="640080" y="4288536"/>
            <a:ext cx="384048" cy="384048"/>
          </a:xfrm>
          <a:prstGeom prst="roundRect">
            <a:avLst>
              <a:gd name="adj" fmla="val 23810"/>
            </a:avLst>
          </a:prstGeom>
          <a:solidFill>
            <a:srgbClr val="B1E882"/>
          </a:solidFill>
          <a:ln/>
        </p:spPr>
      </p:sp>
      <p:sp>
        <p:nvSpPr>
          <p:cNvPr id="14" name="Text 12"/>
          <p:cNvSpPr/>
          <p:nvPr/>
        </p:nvSpPr>
        <p:spPr>
          <a:xfrm>
            <a:off x="640080" y="427024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15" name="Text 13"/>
          <p:cNvSpPr/>
          <p:nvPr/>
        </p:nvSpPr>
        <p:spPr>
          <a:xfrm>
            <a:off x="1234440" y="420624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Python in Excel wins when you want grouping, stats, and a chart together — without leaving Excel.</a:t>
            </a:r>
            <a:endParaRPr lang="en-US" sz="1600" dirty="0"/>
          </a:p>
        </p:txBody>
      </p:sp>
      <p:sp>
        <p:nvSpPr>
          <p:cNvPr id="16" name="Shape 14"/>
          <p:cNvSpPr/>
          <p:nvPr/>
        </p:nvSpPr>
        <p:spPr>
          <a:xfrm>
            <a:off x="640080" y="5180076"/>
            <a:ext cx="384048" cy="384048"/>
          </a:xfrm>
          <a:prstGeom prst="roundRect">
            <a:avLst>
              <a:gd name="adj" fmla="val 23810"/>
            </a:avLst>
          </a:prstGeom>
          <a:solidFill>
            <a:srgbClr val="B1E882"/>
          </a:solidFill>
          <a:ln/>
        </p:spPr>
      </p:sp>
      <p:sp>
        <p:nvSpPr>
          <p:cNvPr id="17" name="Text 15"/>
          <p:cNvSpPr/>
          <p:nvPr/>
        </p:nvSpPr>
        <p:spPr>
          <a:xfrm>
            <a:off x="640080" y="5161788"/>
            <a:ext cx="384048" cy="384048"/>
          </a:xfrm>
          <a:prstGeom prst="rect">
            <a:avLst/>
          </a:prstGeom>
          <a:noFill/>
          <a:ln/>
        </p:spPr>
        <p:txBody>
          <a:bodyPr wrap="square" lIns="0" tIns="0" rIns="0" bIns="0" rtlCol="0" anchor="ctr"/>
          <a:lstStyle/>
          <a:p>
            <a:pPr algn="ctr" indent="0" marL="0">
              <a:buNone/>
            </a:pPr>
            <a:r>
              <a:rPr lang="en-US" sz="1600" b="1" dirty="0">
                <a:solidFill>
                  <a:srgbClr val="101110"/>
                </a:solidFill>
                <a:latin typeface="Inter" pitchFamily="34" charset="0"/>
                <a:ea typeface="Inter" pitchFamily="34" charset="-122"/>
                <a:cs typeface="Inter" pitchFamily="34" charset="-120"/>
              </a:rPr>
              <a:t>✓</a:t>
            </a:r>
            <a:endParaRPr lang="en-US" sz="1600" dirty="0"/>
          </a:p>
        </p:txBody>
      </p:sp>
      <p:sp>
        <p:nvSpPr>
          <p:cNvPr id="18" name="Text 16"/>
          <p:cNvSpPr/>
          <p:nvPr/>
        </p:nvSpPr>
        <p:spPr>
          <a:xfrm>
            <a:off x="1234440" y="5097780"/>
            <a:ext cx="10058400" cy="891540"/>
          </a:xfrm>
          <a:prstGeom prst="rect">
            <a:avLst/>
          </a:prstGeom>
          <a:noFill/>
          <a:ln/>
        </p:spPr>
        <p:txBody>
          <a:bodyPr wrap="square" lIns="0" tIns="0" rIns="0" bIns="0" rtlCol="0" anchor="t"/>
          <a:lstStyle/>
          <a:p>
            <a:pPr indent="0" marL="0">
              <a:lnSpc>
                <a:spcPct val="110000"/>
              </a:lnSpc>
              <a:buNone/>
            </a:pPr>
            <a:r>
              <a:rPr lang="en-US" sz="1600" dirty="0">
                <a:solidFill>
                  <a:srgbClr val="101110"/>
                </a:solidFill>
                <a:latin typeface="Inter" pitchFamily="34" charset="0"/>
                <a:ea typeface="Inter" pitchFamily="34" charset="-122"/>
                <a:cs typeface="Inter" pitchFamily="34" charset="-120"/>
              </a:rPr>
              <a:t>When formulas, Python, and Copilot agree, trust the answer. When they don't, find out why.</a:t>
            </a:r>
            <a:endParaRPr lang="en-US" sz="1600" dirty="0"/>
          </a:p>
        </p:txBody>
      </p:sp>
      <p:sp>
        <p:nvSpPr>
          <p:cNvPr id="19" name="Text 17"/>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10</a:t>
            </a:r>
            <a:endParaRPr lang="en-US" sz="1000" dirty="0"/>
          </a:p>
        </p:txBody>
      </p:sp>
      <p:sp>
        <p:nvSpPr>
          <p:cNvPr id="20" name="Text 18"/>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101110"/>
                </a:solidFill>
                <a:latin typeface="Inter" pitchFamily="34" charset="0"/>
                <a:ea typeface="Inter" pitchFamily="34" charset="-122"/>
                <a:cs typeface="Inter" pitchFamily="34" charset="-120"/>
              </a:rPr>
              <a:t>GenAI Academy</a:t>
            </a:r>
            <a:endParaRPr lang="en-US" sz="1250" dirty="0"/>
          </a:p>
        </p:txBody>
      </p:sp>
      <p:sp>
        <p:nvSpPr>
          <p:cNvPr id="4" name="Shape 2"/>
          <p:cNvSpPr/>
          <p:nvPr/>
        </p:nvSpPr>
        <p:spPr>
          <a:xfrm>
            <a:off x="640080" y="1001268"/>
            <a:ext cx="146304" cy="146304"/>
          </a:xfrm>
          <a:prstGeom prst="roundRect">
            <a:avLst>
              <a:gd name="adj" fmla="val 25000"/>
            </a:avLst>
          </a:prstGeom>
          <a:solidFill>
            <a:srgbClr val="B1E882"/>
          </a:solidFill>
          <a:ln/>
        </p:spPr>
      </p:sp>
      <p:sp>
        <p:nvSpPr>
          <p:cNvPr id="5" name="Text 3"/>
          <p:cNvSpPr/>
          <p:nvPr/>
        </p:nvSpPr>
        <p:spPr>
          <a:xfrm>
            <a:off x="877824" y="960120"/>
            <a:ext cx="8229600" cy="256032"/>
          </a:xfrm>
          <a:prstGeom prst="rect">
            <a:avLst/>
          </a:prstGeom>
          <a:noFill/>
          <a:ln/>
        </p:spPr>
        <p:txBody>
          <a:bodyPr wrap="square" lIns="0" tIns="0" rIns="0" bIns="0" rtlCol="0" anchor="ctr"/>
          <a:lstStyle/>
          <a:p>
            <a:pPr indent="0" marL="0">
              <a:buNone/>
            </a:pPr>
            <a:r>
              <a:rPr lang="en-US" sz="1200" b="1" spc="200" kern="0" dirty="0">
                <a:solidFill>
                  <a:srgbClr val="4F7A1F"/>
                </a:solidFill>
                <a:latin typeface="Inter" pitchFamily="34" charset="0"/>
                <a:ea typeface="Inter" pitchFamily="34" charset="-122"/>
                <a:cs typeface="Inter" pitchFamily="34" charset="-120"/>
              </a:rPr>
              <a:t>BEFORE NEXT SESSION</a:t>
            </a:r>
            <a:endParaRPr lang="en-US" sz="1200" dirty="0"/>
          </a:p>
        </p:txBody>
      </p:sp>
      <p:sp>
        <p:nvSpPr>
          <p:cNvPr id="6" name="Text 4"/>
          <p:cNvSpPr/>
          <p:nvPr/>
        </p:nvSpPr>
        <p:spPr>
          <a:xfrm>
            <a:off x="640080" y="1280160"/>
            <a:ext cx="10607040" cy="731520"/>
          </a:xfrm>
          <a:prstGeom prst="rect">
            <a:avLst/>
          </a:prstGeom>
          <a:noFill/>
          <a:ln/>
        </p:spPr>
        <p:txBody>
          <a:bodyPr wrap="square" lIns="0" tIns="0" rIns="0" bIns="0" rtlCol="0" anchor="ctr"/>
          <a:lstStyle/>
          <a:p>
            <a:pPr indent="0" marL="0">
              <a:buNone/>
            </a:pPr>
            <a:r>
              <a:rPr lang="en-US" sz="3000" b="1" dirty="0">
                <a:solidFill>
                  <a:srgbClr val="101110"/>
                </a:solidFill>
                <a:latin typeface="Inter" pitchFamily="34" charset="0"/>
                <a:ea typeface="Inter" pitchFamily="34" charset="-122"/>
                <a:cs typeface="Inter" pitchFamily="34" charset="-120"/>
              </a:rPr>
              <a:t>Before Session 3</a:t>
            </a:r>
            <a:endParaRPr lang="en-US" sz="3000" dirty="0"/>
          </a:p>
        </p:txBody>
      </p:sp>
      <p:sp>
        <p:nvSpPr>
          <p:cNvPr id="7" name="Text 5"/>
          <p:cNvSpPr/>
          <p:nvPr/>
        </p:nvSpPr>
        <p:spPr>
          <a:xfrm>
            <a:off x="640080" y="2011680"/>
            <a:ext cx="10424160" cy="640080"/>
          </a:xfrm>
          <a:prstGeom prst="rect">
            <a:avLst/>
          </a:prstGeom>
          <a:noFill/>
          <a:ln/>
        </p:spPr>
        <p:txBody>
          <a:bodyPr wrap="square" lIns="0" tIns="0" rIns="0" bIns="0" rtlCol="0" anchor="ctr"/>
          <a:lstStyle/>
          <a:p>
            <a:pPr indent="0" marL="0">
              <a:lnSpc>
                <a:spcPct val="115000"/>
              </a:lnSpc>
              <a:buNone/>
            </a:pPr>
            <a:r>
              <a:rPr lang="en-US" sz="1450" dirty="0">
                <a:solidFill>
                  <a:srgbClr val="6B6F6B"/>
                </a:solidFill>
                <a:latin typeface="Inter" pitchFamily="34" charset="0"/>
                <a:ea typeface="Inter" pitchFamily="34" charset="-122"/>
                <a:cs typeface="Inter" pitchFamily="34" charset="-120"/>
              </a:rPr>
              <a:t>Reproduce one analysis — then start thinking about your capstone. Post your chart or summary in Slack.</a:t>
            </a:r>
            <a:endParaRPr lang="en-US" sz="1450" dirty="0"/>
          </a:p>
        </p:txBody>
      </p:sp>
      <p:sp>
        <p:nvSpPr>
          <p:cNvPr id="8" name="Shape 6"/>
          <p:cNvSpPr/>
          <p:nvPr/>
        </p:nvSpPr>
        <p:spPr>
          <a:xfrm>
            <a:off x="640080" y="2880360"/>
            <a:ext cx="3393338" cy="3108960"/>
          </a:xfrm>
          <a:prstGeom prst="roundRect">
            <a:avLst>
              <a:gd name="adj" fmla="val 4118"/>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914400" y="3154680"/>
            <a:ext cx="457200" cy="457200"/>
          </a:xfrm>
          <a:prstGeom prst="ellipse">
            <a:avLst/>
          </a:prstGeom>
          <a:solidFill>
            <a:srgbClr val="101110"/>
          </a:solidFill>
          <a:ln/>
        </p:spPr>
      </p:sp>
      <p:sp>
        <p:nvSpPr>
          <p:cNvPr id="10" name="Text 8"/>
          <p:cNvSpPr/>
          <p:nvPr/>
        </p:nvSpPr>
        <p:spPr>
          <a:xfrm>
            <a:off x="914400" y="3154680"/>
            <a:ext cx="457200" cy="457200"/>
          </a:xfrm>
          <a:prstGeom prst="rect">
            <a:avLst/>
          </a:prstGeom>
          <a:noFill/>
          <a:ln/>
        </p:spPr>
        <p:txBody>
          <a:bodyPr wrap="square" lIns="0" tIns="0" rIns="0" bIns="0" rtlCol="0" anchor="ctr"/>
          <a:lstStyle/>
          <a:p>
            <a:pPr algn="ctr" indent="0" marL="0">
              <a:buNone/>
            </a:pPr>
            <a:r>
              <a:rPr lang="en-US" sz="1600" b="1" dirty="0">
                <a:solidFill>
                  <a:srgbClr val="B1E882"/>
                </a:solidFill>
                <a:latin typeface="Inter" pitchFamily="34" charset="0"/>
                <a:ea typeface="Inter" pitchFamily="34" charset="-122"/>
                <a:cs typeface="Inter" pitchFamily="34" charset="-120"/>
              </a:rPr>
              <a:t>1</a:t>
            </a:r>
            <a:endParaRPr lang="en-US" sz="1600" dirty="0"/>
          </a:p>
        </p:txBody>
      </p:sp>
      <p:sp>
        <p:nvSpPr>
          <p:cNvPr id="11" name="Text 9"/>
          <p:cNvSpPr/>
          <p:nvPr/>
        </p:nvSpPr>
        <p:spPr>
          <a:xfrm>
            <a:off x="914400" y="3794760"/>
            <a:ext cx="2844698" cy="548640"/>
          </a:xfrm>
          <a:prstGeom prst="rect">
            <a:avLst/>
          </a:prstGeom>
          <a:noFill/>
          <a:ln/>
        </p:spPr>
        <p:txBody>
          <a:bodyPr wrap="square" lIns="0" tIns="0" rIns="0" bIns="0" rtlCol="0" anchor="ctr"/>
          <a:lstStyle/>
          <a:p>
            <a:pPr indent="0" marL="0">
              <a:buNone/>
            </a:pPr>
            <a:r>
              <a:rPr lang="en-US" sz="1500" b="1" dirty="0">
                <a:solidFill>
                  <a:srgbClr val="101110"/>
                </a:solidFill>
                <a:latin typeface="Inter" pitchFamily="34" charset="0"/>
                <a:ea typeface="Inter" pitchFamily="34" charset="-122"/>
                <a:cs typeface="Inter" pitchFamily="34" charset="-120"/>
              </a:rPr>
              <a:t>Reproduce one road</a:t>
            </a:r>
            <a:endParaRPr lang="en-US" sz="1500" dirty="0"/>
          </a:p>
        </p:txBody>
      </p:sp>
      <p:sp>
        <p:nvSpPr>
          <p:cNvPr id="12" name="Text 10"/>
          <p:cNvSpPr/>
          <p:nvPr/>
        </p:nvSpPr>
        <p:spPr>
          <a:xfrm>
            <a:off x="914400" y="4343400"/>
            <a:ext cx="2844698" cy="1463040"/>
          </a:xfrm>
          <a:prstGeom prst="rect">
            <a:avLst/>
          </a:prstGeom>
          <a:noFill/>
          <a:ln/>
        </p:spPr>
        <p:txBody>
          <a:bodyPr wrap="square" lIns="0" tIns="0" rIns="0" bIns="0" rtlCol="0" anchor="t"/>
          <a:lstStyle/>
          <a:p>
            <a:pPr indent="0" marL="0">
              <a:lnSpc>
                <a:spcPct val="118000"/>
              </a:lnSpc>
              <a:buNone/>
            </a:pPr>
            <a:r>
              <a:rPr lang="en-US" sz="1200" dirty="0">
                <a:solidFill>
                  <a:srgbClr val="3A3D38"/>
                </a:solidFill>
                <a:latin typeface="Inter" pitchFamily="34" charset="0"/>
                <a:ea typeface="Inter" pitchFamily="34" charset="-122"/>
                <a:cs typeface="Inter" pitchFamily="34" charset="-120"/>
              </a:rPr>
              <a:t>Recreate the department variance summary using Road 1, 2, OR 3 — your choice — on the provided data or your own.</a:t>
            </a:r>
            <a:endParaRPr lang="en-US" sz="1200" dirty="0"/>
          </a:p>
        </p:txBody>
      </p:sp>
      <p:sp>
        <p:nvSpPr>
          <p:cNvPr id="13" name="Shape 11"/>
          <p:cNvSpPr/>
          <p:nvPr/>
        </p:nvSpPr>
        <p:spPr>
          <a:xfrm>
            <a:off x="4399178" y="2880360"/>
            <a:ext cx="3393338" cy="3108960"/>
          </a:xfrm>
          <a:prstGeom prst="roundRect">
            <a:avLst>
              <a:gd name="adj" fmla="val 4118"/>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4" name="Shape 12"/>
          <p:cNvSpPr/>
          <p:nvPr/>
        </p:nvSpPr>
        <p:spPr>
          <a:xfrm>
            <a:off x="4673498" y="3154680"/>
            <a:ext cx="457200" cy="457200"/>
          </a:xfrm>
          <a:prstGeom prst="ellipse">
            <a:avLst/>
          </a:prstGeom>
          <a:solidFill>
            <a:srgbClr val="101110"/>
          </a:solidFill>
          <a:ln/>
        </p:spPr>
      </p:sp>
      <p:sp>
        <p:nvSpPr>
          <p:cNvPr id="15" name="Text 13"/>
          <p:cNvSpPr/>
          <p:nvPr/>
        </p:nvSpPr>
        <p:spPr>
          <a:xfrm>
            <a:off x="4673498" y="3154680"/>
            <a:ext cx="457200" cy="457200"/>
          </a:xfrm>
          <a:prstGeom prst="rect">
            <a:avLst/>
          </a:prstGeom>
          <a:noFill/>
          <a:ln/>
        </p:spPr>
        <p:txBody>
          <a:bodyPr wrap="square" lIns="0" tIns="0" rIns="0" bIns="0" rtlCol="0" anchor="ctr"/>
          <a:lstStyle/>
          <a:p>
            <a:pPr algn="ctr" indent="0" marL="0">
              <a:buNone/>
            </a:pPr>
            <a:r>
              <a:rPr lang="en-US" sz="1600" b="1" dirty="0">
                <a:solidFill>
                  <a:srgbClr val="B1E882"/>
                </a:solidFill>
                <a:latin typeface="Inter" pitchFamily="34" charset="0"/>
                <a:ea typeface="Inter" pitchFamily="34" charset="-122"/>
                <a:cs typeface="Inter" pitchFamily="34" charset="-120"/>
              </a:rPr>
              <a:t>2</a:t>
            </a:r>
            <a:endParaRPr lang="en-US" sz="1600" dirty="0"/>
          </a:p>
        </p:txBody>
      </p:sp>
      <p:sp>
        <p:nvSpPr>
          <p:cNvPr id="16" name="Text 14"/>
          <p:cNvSpPr/>
          <p:nvPr/>
        </p:nvSpPr>
        <p:spPr>
          <a:xfrm>
            <a:off x="4673498" y="3794760"/>
            <a:ext cx="2844698" cy="548640"/>
          </a:xfrm>
          <a:prstGeom prst="rect">
            <a:avLst/>
          </a:prstGeom>
          <a:noFill/>
          <a:ln/>
        </p:spPr>
        <p:txBody>
          <a:bodyPr wrap="square" lIns="0" tIns="0" rIns="0" bIns="0" rtlCol="0" anchor="ctr"/>
          <a:lstStyle/>
          <a:p>
            <a:pPr indent="0" marL="0">
              <a:buNone/>
            </a:pPr>
            <a:r>
              <a:rPr lang="en-US" sz="1500" b="1" dirty="0">
                <a:solidFill>
                  <a:srgbClr val="101110"/>
                </a:solidFill>
                <a:latin typeface="Inter" pitchFamily="34" charset="0"/>
                <a:ea typeface="Inter" pitchFamily="34" charset="-122"/>
                <a:cs typeface="Inter" pitchFamily="34" charset="-120"/>
              </a:rPr>
              <a:t>Bring your own data</a:t>
            </a:r>
            <a:endParaRPr lang="en-US" sz="1500" dirty="0"/>
          </a:p>
        </p:txBody>
      </p:sp>
      <p:sp>
        <p:nvSpPr>
          <p:cNvPr id="17" name="Text 15"/>
          <p:cNvSpPr/>
          <p:nvPr/>
        </p:nvSpPr>
        <p:spPr>
          <a:xfrm>
            <a:off x="4673498" y="4343400"/>
            <a:ext cx="2844698" cy="1463040"/>
          </a:xfrm>
          <a:prstGeom prst="rect">
            <a:avLst/>
          </a:prstGeom>
          <a:noFill/>
          <a:ln/>
        </p:spPr>
        <p:txBody>
          <a:bodyPr wrap="square" lIns="0" tIns="0" rIns="0" bIns="0" rtlCol="0" anchor="t"/>
          <a:lstStyle/>
          <a:p>
            <a:pPr indent="0" marL="0">
              <a:lnSpc>
                <a:spcPct val="118000"/>
              </a:lnSpc>
              <a:buNone/>
            </a:pPr>
            <a:r>
              <a:rPr lang="en-US" sz="1200" dirty="0">
                <a:solidFill>
                  <a:srgbClr val="3A3D38"/>
                </a:solidFill>
                <a:latin typeface="Inter" pitchFamily="34" charset="0"/>
                <a:ea typeface="Inter" pitchFamily="34" charset="-122"/>
                <a:cs typeface="Inter" pitchFamily="34" charset="-120"/>
              </a:rPr>
              <a:t>Pick a real recurring report you make. Bring a small, anonymized sample to Session 3 — it becomes your capstone.</a:t>
            </a:r>
            <a:endParaRPr lang="en-US" sz="1200" dirty="0"/>
          </a:p>
        </p:txBody>
      </p:sp>
      <p:sp>
        <p:nvSpPr>
          <p:cNvPr id="18" name="Shape 16"/>
          <p:cNvSpPr/>
          <p:nvPr/>
        </p:nvSpPr>
        <p:spPr>
          <a:xfrm>
            <a:off x="8158277" y="2880360"/>
            <a:ext cx="3393338" cy="3108960"/>
          </a:xfrm>
          <a:prstGeom prst="roundRect">
            <a:avLst>
              <a:gd name="adj" fmla="val 4118"/>
            </a:avLst>
          </a:prstGeom>
          <a:solidFill>
            <a:srgbClr val="F4F7EF"/>
          </a:solidFill>
          <a:ln w="12700">
            <a:solidFill>
              <a:srgbClr val="E3E6DF"/>
            </a:solidFill>
            <a:prstDash val="solid"/>
          </a:ln>
          <a:effectLst>
            <a:outerShdw sx="100000" sy="100000" kx="0" ky="0" algn="bl" rotWithShape="0" blurRad="114300" dist="38100" dir="5400000">
              <a:srgbClr val="000000">
                <a:alpha val="10000"/>
              </a:srgbClr>
            </a:outerShdw>
          </a:effectLst>
        </p:spPr>
      </p:sp>
      <p:sp>
        <p:nvSpPr>
          <p:cNvPr id="19" name="Shape 17"/>
          <p:cNvSpPr/>
          <p:nvPr/>
        </p:nvSpPr>
        <p:spPr>
          <a:xfrm>
            <a:off x="8432597" y="3154680"/>
            <a:ext cx="457200" cy="457200"/>
          </a:xfrm>
          <a:prstGeom prst="ellipse">
            <a:avLst/>
          </a:prstGeom>
          <a:solidFill>
            <a:srgbClr val="101110"/>
          </a:solidFill>
          <a:ln/>
        </p:spPr>
      </p:sp>
      <p:sp>
        <p:nvSpPr>
          <p:cNvPr id="20" name="Text 18"/>
          <p:cNvSpPr/>
          <p:nvPr/>
        </p:nvSpPr>
        <p:spPr>
          <a:xfrm>
            <a:off x="8432597" y="3154680"/>
            <a:ext cx="457200" cy="457200"/>
          </a:xfrm>
          <a:prstGeom prst="rect">
            <a:avLst/>
          </a:prstGeom>
          <a:noFill/>
          <a:ln/>
        </p:spPr>
        <p:txBody>
          <a:bodyPr wrap="square" lIns="0" tIns="0" rIns="0" bIns="0" rtlCol="0" anchor="ctr"/>
          <a:lstStyle/>
          <a:p>
            <a:pPr algn="ctr" indent="0" marL="0">
              <a:buNone/>
            </a:pPr>
            <a:r>
              <a:rPr lang="en-US" sz="1600" b="1" dirty="0">
                <a:solidFill>
                  <a:srgbClr val="B1E882"/>
                </a:solidFill>
                <a:latin typeface="Inter" pitchFamily="34" charset="0"/>
                <a:ea typeface="Inter" pitchFamily="34" charset="-122"/>
                <a:cs typeface="Inter" pitchFamily="34" charset="-120"/>
              </a:rPr>
              <a:t>3</a:t>
            </a:r>
            <a:endParaRPr lang="en-US" sz="1600" dirty="0"/>
          </a:p>
        </p:txBody>
      </p:sp>
      <p:sp>
        <p:nvSpPr>
          <p:cNvPr id="21" name="Text 19"/>
          <p:cNvSpPr/>
          <p:nvPr/>
        </p:nvSpPr>
        <p:spPr>
          <a:xfrm>
            <a:off x="8432597" y="3794760"/>
            <a:ext cx="2844698" cy="548640"/>
          </a:xfrm>
          <a:prstGeom prst="rect">
            <a:avLst/>
          </a:prstGeom>
          <a:noFill/>
          <a:ln/>
        </p:spPr>
        <p:txBody>
          <a:bodyPr wrap="square" lIns="0" tIns="0" rIns="0" bIns="0" rtlCol="0" anchor="ctr"/>
          <a:lstStyle/>
          <a:p>
            <a:pPr indent="0" marL="0">
              <a:buNone/>
            </a:pPr>
            <a:r>
              <a:rPr lang="en-US" sz="1500" b="1" dirty="0">
                <a:solidFill>
                  <a:srgbClr val="101110"/>
                </a:solidFill>
                <a:latin typeface="Inter" pitchFamily="34" charset="0"/>
                <a:ea typeface="Inter" pitchFamily="34" charset="-122"/>
                <a:cs typeface="Inter" pitchFamily="34" charset="-120"/>
              </a:rPr>
              <a:t>Stretch (optional)</a:t>
            </a:r>
            <a:endParaRPr lang="en-US" sz="1500" dirty="0"/>
          </a:p>
        </p:txBody>
      </p:sp>
      <p:sp>
        <p:nvSpPr>
          <p:cNvPr id="22" name="Text 20"/>
          <p:cNvSpPr/>
          <p:nvPr/>
        </p:nvSpPr>
        <p:spPr>
          <a:xfrm>
            <a:off x="8432597" y="4343400"/>
            <a:ext cx="2844698" cy="1463040"/>
          </a:xfrm>
          <a:prstGeom prst="rect">
            <a:avLst/>
          </a:prstGeom>
          <a:noFill/>
          <a:ln/>
        </p:spPr>
        <p:txBody>
          <a:bodyPr wrap="square" lIns="0" tIns="0" rIns="0" bIns="0" rtlCol="0" anchor="t"/>
          <a:lstStyle/>
          <a:p>
            <a:pPr indent="0" marL="0">
              <a:lnSpc>
                <a:spcPct val="118000"/>
              </a:lnSpc>
              <a:buNone/>
            </a:pPr>
            <a:r>
              <a:rPr lang="en-US" sz="1200" dirty="0">
                <a:solidFill>
                  <a:srgbClr val="3A3D38"/>
                </a:solidFill>
                <a:latin typeface="Inter" pitchFamily="34" charset="0"/>
                <a:ea typeface="Inter" pitchFamily="34" charset="-122"/>
                <a:cs typeface="Inter" pitchFamily="34" charset="-120"/>
              </a:rPr>
              <a:t>Answer a NEW question of the data (e.g. which month was worst?) and share how you asked the AI.</a:t>
            </a:r>
            <a:endParaRPr lang="en-US" sz="1200" dirty="0"/>
          </a:p>
        </p:txBody>
      </p:sp>
      <p:sp>
        <p:nvSpPr>
          <p:cNvPr id="23" name="Text 21"/>
          <p:cNvSpPr/>
          <p:nvPr/>
        </p:nvSpPr>
        <p:spPr>
          <a:xfrm>
            <a:off x="11094415" y="6355080"/>
            <a:ext cx="457200" cy="274320"/>
          </a:xfrm>
          <a:prstGeom prst="rect">
            <a:avLst/>
          </a:prstGeom>
          <a:noFill/>
          <a:ln/>
        </p:spPr>
        <p:txBody>
          <a:bodyPr wrap="square" lIns="0" tIns="0" rIns="0" bIns="0" rtlCol="0" anchor="ctr"/>
          <a:lstStyle/>
          <a:p>
            <a:pPr algn="r" indent="0" marL="0">
              <a:buNone/>
            </a:pPr>
            <a:r>
              <a:rPr lang="en-US" sz="1000" dirty="0">
                <a:solidFill>
                  <a:srgbClr val="6B6F6B"/>
                </a:solidFill>
                <a:latin typeface="Inter" pitchFamily="34" charset="0"/>
                <a:ea typeface="Inter" pitchFamily="34" charset="-122"/>
                <a:cs typeface="Inter" pitchFamily="34" charset="-120"/>
              </a:rPr>
              <a:t>11</a:t>
            </a:r>
            <a:endParaRPr lang="en-US" sz="1000" dirty="0"/>
          </a:p>
        </p:txBody>
      </p:sp>
      <p:sp>
        <p:nvSpPr>
          <p:cNvPr id="24" name="Text 22"/>
          <p:cNvSpPr/>
          <p:nvPr/>
        </p:nvSpPr>
        <p:spPr>
          <a:xfrm>
            <a:off x="640080" y="6355080"/>
            <a:ext cx="6400800" cy="274320"/>
          </a:xfrm>
          <a:prstGeom prst="rect">
            <a:avLst/>
          </a:prstGeom>
          <a:noFill/>
          <a:ln/>
        </p:spPr>
        <p:txBody>
          <a:bodyPr wrap="square" lIns="0" tIns="0" rIns="0" bIns="0" rtlCol="0" anchor="ctr"/>
          <a:lstStyle/>
          <a:p>
            <a:pPr indent="0" marL="0">
              <a:buNone/>
            </a:pPr>
            <a:r>
              <a:rPr lang="en-US" sz="950" dirty="0">
                <a:solidFill>
                  <a:srgbClr val="9AA094"/>
                </a:solidFill>
                <a:latin typeface="Inter" pitchFamily="34" charset="0"/>
                <a:ea typeface="Inter" pitchFamily="34" charset="-122"/>
                <a:cs typeface="Inter" pitchFamily="34" charset="-120"/>
              </a:rPr>
              <a:t>AI for Excel · Session 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110"/>
        </a:solidFill>
      </p:bgPr>
    </p:bg>
    <p:spTree>
      <p:nvGrpSpPr>
        <p:cNvPr id="1" name=""/>
        <p:cNvGrpSpPr/>
        <p:nvPr/>
      </p:nvGrpSpPr>
      <p:grpSpPr>
        <a:xfrm>
          <a:off x="0" y="0"/>
          <a:ext cx="0" cy="0"/>
          <a:chOff x="0" y="0"/>
          <a:chExt cx="0" cy="0"/>
        </a:xfrm>
      </p:grpSpPr>
      <p:sp>
        <p:nvSpPr>
          <p:cNvPr id="2" name="Shape 0"/>
          <p:cNvSpPr/>
          <p:nvPr/>
        </p:nvSpPr>
        <p:spPr>
          <a:xfrm>
            <a:off x="640080" y="365760"/>
            <a:ext cx="237744" cy="237744"/>
          </a:xfrm>
          <a:prstGeom prst="roundRect">
            <a:avLst>
              <a:gd name="adj" fmla="val 26923"/>
            </a:avLst>
          </a:prstGeom>
          <a:solidFill>
            <a:srgbClr val="B1E882"/>
          </a:solidFill>
          <a:ln/>
        </p:spPr>
      </p:sp>
      <p:sp>
        <p:nvSpPr>
          <p:cNvPr id="3" name="Text 1"/>
          <p:cNvSpPr/>
          <p:nvPr/>
        </p:nvSpPr>
        <p:spPr>
          <a:xfrm>
            <a:off x="941832" y="310896"/>
            <a:ext cx="3657600" cy="347472"/>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GenAI Academy</a:t>
            </a:r>
            <a:endParaRPr lang="en-US" sz="1250" dirty="0"/>
          </a:p>
        </p:txBody>
      </p:sp>
      <p:sp>
        <p:nvSpPr>
          <p:cNvPr id="4" name="Text 2"/>
          <p:cNvSpPr/>
          <p:nvPr/>
        </p:nvSpPr>
        <p:spPr>
          <a:xfrm>
            <a:off x="640080" y="2103120"/>
            <a:ext cx="10058400" cy="1280160"/>
          </a:xfrm>
          <a:prstGeom prst="rect">
            <a:avLst/>
          </a:prstGeom>
          <a:noFill/>
          <a:ln/>
        </p:spPr>
        <p:txBody>
          <a:bodyPr wrap="square" lIns="0" tIns="0" rIns="0" bIns="0" rtlCol="0" anchor="ctr"/>
          <a:lstStyle/>
          <a:p>
            <a:pPr indent="0" marL="0">
              <a:buNone/>
            </a:pPr>
            <a:r>
              <a:rPr lang="en-US" sz="4400" b="1" dirty="0">
                <a:solidFill>
                  <a:srgbClr val="FFFFFF"/>
                </a:solidFill>
                <a:latin typeface="Inter" pitchFamily="34" charset="0"/>
                <a:ea typeface="Inter" pitchFamily="34" charset="-122"/>
                <a:cs typeface="Inter" pitchFamily="34" charset="-120"/>
              </a:rPr>
              <a:t>See you in Session 3! 👋</a:t>
            </a:r>
            <a:endParaRPr lang="en-US" sz="4400" dirty="0"/>
          </a:p>
        </p:txBody>
      </p:sp>
      <p:sp>
        <p:nvSpPr>
          <p:cNvPr id="5" name="Text 3"/>
          <p:cNvSpPr/>
          <p:nvPr/>
        </p:nvSpPr>
        <p:spPr>
          <a:xfrm>
            <a:off x="640080" y="3474720"/>
            <a:ext cx="10058400" cy="548640"/>
          </a:xfrm>
          <a:prstGeom prst="rect">
            <a:avLst/>
          </a:prstGeom>
          <a:noFill/>
          <a:ln/>
        </p:spPr>
        <p:txBody>
          <a:bodyPr wrap="square" lIns="0" tIns="0" rIns="0" bIns="0" rtlCol="0" anchor="ctr"/>
          <a:lstStyle/>
          <a:p>
            <a:pPr indent="0" marL="0">
              <a:buNone/>
            </a:pPr>
            <a:r>
              <a:rPr lang="en-US" sz="1600" dirty="0">
                <a:solidFill>
                  <a:srgbClr val="B1E882"/>
                </a:solidFill>
                <a:latin typeface="Inter" pitchFamily="34" charset="0"/>
                <a:ea typeface="Inter" pitchFamily="34" charset="-122"/>
                <a:cs typeface="Inter" pitchFamily="34" charset="-120"/>
              </a:rPr>
              <a:t>Session 3: Build &amp; ship a reusable workflow — and your capstone.</a:t>
            </a:r>
            <a:endParaRPr lang="en-US" sz="1600" dirty="0"/>
          </a:p>
        </p:txBody>
      </p:sp>
      <p:sp>
        <p:nvSpPr>
          <p:cNvPr id="6" name="Shape 4"/>
          <p:cNvSpPr/>
          <p:nvPr/>
        </p:nvSpPr>
        <p:spPr>
          <a:xfrm>
            <a:off x="640080" y="4297680"/>
            <a:ext cx="3383280" cy="868680"/>
          </a:xfrm>
          <a:prstGeom prst="roundRect">
            <a:avLst>
              <a:gd name="adj" fmla="val 12632"/>
            </a:avLst>
          </a:prstGeom>
          <a:solidFill>
            <a:srgbClr val="1E1F1D"/>
          </a:solidFill>
          <a:ln w="12700">
            <a:solidFill>
              <a:srgbClr val="2C2E2A"/>
            </a:solidFill>
            <a:prstDash val="solid"/>
          </a:ln>
        </p:spPr>
      </p:sp>
      <p:sp>
        <p:nvSpPr>
          <p:cNvPr id="7" name="Text 5"/>
          <p:cNvSpPr/>
          <p:nvPr/>
        </p:nvSpPr>
        <p:spPr>
          <a:xfrm>
            <a:off x="868680" y="4453128"/>
            <a:ext cx="3017520" cy="292608"/>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Instructor Name</a:t>
            </a:r>
            <a:endParaRPr lang="en-US" sz="1500" dirty="0"/>
          </a:p>
        </p:txBody>
      </p:sp>
      <p:sp>
        <p:nvSpPr>
          <p:cNvPr id="8" name="Text 6"/>
          <p:cNvSpPr/>
          <p:nvPr/>
        </p:nvSpPr>
        <p:spPr>
          <a:xfrm>
            <a:off x="868680" y="4764024"/>
            <a:ext cx="3017520" cy="274320"/>
          </a:xfrm>
          <a:prstGeom prst="rect">
            <a:avLst/>
          </a:prstGeom>
          <a:noFill/>
          <a:ln/>
        </p:spPr>
        <p:txBody>
          <a:bodyPr wrap="square" lIns="0" tIns="0" rIns="0" bIns="0" rtlCol="0" anchor="ctr"/>
          <a:lstStyle/>
          <a:p>
            <a:pPr indent="0" marL="0">
              <a:buNone/>
            </a:pPr>
            <a:r>
              <a:rPr lang="en-US" sz="1150" dirty="0">
                <a:solidFill>
                  <a:srgbClr val="B1E882"/>
                </a:solidFill>
                <a:latin typeface="Inter" pitchFamily="34" charset="0"/>
                <a:ea typeface="Inter" pitchFamily="34" charset="-122"/>
                <a:cs typeface="Inter" pitchFamily="34" charset="-120"/>
              </a:rPr>
              <a:t>Role or company</a:t>
            </a:r>
            <a:endParaRPr lang="en-US" sz="1150" dirty="0"/>
          </a:p>
        </p:txBody>
      </p:sp>
      <p:sp>
        <p:nvSpPr>
          <p:cNvPr id="9" name="Text 7"/>
          <p:cNvSpPr/>
          <p:nvPr/>
        </p:nvSpPr>
        <p:spPr>
          <a:xfrm>
            <a:off x="640080" y="5486400"/>
            <a:ext cx="6400800" cy="731520"/>
          </a:xfrm>
          <a:prstGeom prst="rect">
            <a:avLst/>
          </a:prstGeom>
          <a:noFill/>
          <a:ln/>
        </p:spPr>
        <p:txBody>
          <a:bodyPr wrap="square" lIns="0" tIns="0" rIns="0" bIns="0" rtlCol="0" anchor="ctr"/>
          <a:lstStyle/>
          <a:p>
            <a:pPr indent="0" marL="0">
              <a:lnSpc>
                <a:spcPct val="125000"/>
              </a:lnSpc>
              <a:buNone/>
            </a:pPr>
            <a:r>
              <a:rPr lang="en-US" sz="1300" dirty="0">
                <a:solidFill>
                  <a:srgbClr val="D6D9D2"/>
                </a:solidFill>
                <a:latin typeface="Inter" pitchFamily="34" charset="0"/>
                <a:ea typeface="Inter" pitchFamily="34" charset="-122"/>
                <a:cs typeface="Inter" pitchFamily="34" charset="-120"/>
              </a:rPr>
              <a:t>Support@academy.genai.works</a:t>
            </a:r>
            <a:endParaRPr lang="en-US" sz="1300" dirty="0"/>
          </a:p>
          <a:p>
            <a:pPr indent="0" marL="0">
              <a:lnSpc>
                <a:spcPct val="125000"/>
              </a:lnSpc>
              <a:buNone/>
            </a:pPr>
            <a:r>
              <a:rPr lang="en-US" sz="1300" dirty="0">
                <a:solidFill>
                  <a:srgbClr val="D6D9D2"/>
                </a:solidFill>
                <a:latin typeface="Inter" pitchFamily="34" charset="0"/>
                <a:ea typeface="Inter" pitchFamily="34" charset="-122"/>
                <a:cs typeface="Inter" pitchFamily="34" charset="-120"/>
              </a:rPr>
              <a:t>Post your analysis in the course Slack channel.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Excel — Session 2</dc:title>
  <dc:subject>PptxGenJS Presentation</dc:subject>
  <dc:creator>GenAI Works Academy</dc:creator>
  <cp:lastModifiedBy>GenAI Works Academy</cp:lastModifiedBy>
  <cp:revision>1</cp:revision>
  <dcterms:created xsi:type="dcterms:W3CDTF">2026-06-26T18:28:59Z</dcterms:created>
  <dcterms:modified xsi:type="dcterms:W3CDTF">2026-06-26T18:28:59Z</dcterms:modified>
</cp:coreProperties>
</file>